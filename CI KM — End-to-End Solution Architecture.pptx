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</p:sldIdLst>
  <p:notesMasterIdLst>
    <p:notesMasterId r:id="rId5"/>
  </p:notesMasterIdLst>
  <p:sldSz cx="16256000" cy="8128000" type="custom"/>
  <p:notesSz cx="16256000" cy="8128000"/>
  <p:embeddedFontLst>
    <p:embeddedFont>
      <p:font typeface="MiSans" charset="-122" pitchFamily="34"/>
      <p:regular r:id="rId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font" Target="fonts/font1.fntdata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End-to-end solution architecture for the CI KM capability, in the reference consulting format. Left: real CI knowledge sources from the inventory (Backcast Report SharePoint, regional SharePoints, email chains, MS Teams, OneNote, Planning DB/PIR, Value Opportunity Trackers) with callout 1 automated capture. Feeds column: Graph API connectors, batch crawl, event triggers, manual SME upload. Central zone: ingestion microservices, landing (immutable raw store, event log, lineage), traditional AI/ML (OCR, speech-to-text with diarization, classification, dedup, table extraction), LLM curation as pink overlay callout 2 (template extraction, taxonomy tagging, summarization, entity/relationship extraction, draft confidence scoring, embedding and chunking), SME review queue as human gate callout 4, extraction quality monitoring. Platform zone with banner callout 3: knowledge graph + Profisee metadata as single source of truth; repository, vector + keyword indexes, hybrid retrieval, quality and confidence layer, persistent source links. Access column: faceted search, Q&amp;A assistant with citations and confidence badges, APIs/MCP, subscriptions, usage feedback capture. Consumers: planning and scheduling, backcast and lookback, CI leadership reviews, and dashed future-phase decision-support agents. Dashed feedback loop returns usage signals and SME corrections to curation. Bottom band callout 5: common platform services — governance and lifecycle, quality-tier model, access control and sensitivity, audit and versioning, continuous improvement, monitoring.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52400" y="1270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2E3A45"/>
                </a:solidFill>
                <a:latin typeface="MiSans"/>
                <a:ea typeface="MiSans"/>
              </a:rPr>
              <a:t>CI Knowledge Management — End-to-End Solution Architecture</a:t>
            </a:r>
            <a:endParaRPr lang="en-US" sz="1700" noProof="1"/>
          </a:p>
        </p:txBody>
      </p:sp>
      <p:sp>
        <p:nvSpPr>
          <p:cNvPr id="3" name="subtitle"/>
          <p:cNvSpPr txBox="1"/>
          <p:nvPr/>
        </p:nvSpPr>
        <p:spPr>
          <a:xfrm>
            <a:off x="152400" y="469900"/>
            <a:ext cx="685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8C9390"/>
                </a:solidFill>
                <a:latin typeface="MiSans"/>
                <a:ea typeface="MiSans"/>
              </a:rPr>
              <a:t>AI proposes, humans approve — scattered CI artifacts become governed, searchable, decision-ready knowledge</a:t>
            </a:r>
            <a:endParaRPr lang="en-US" sz="900" noProof="1"/>
          </a:p>
        </p:txBody>
      </p:sp>
      <p:sp>
        <p:nvSpPr>
          <p:cNvPr id="4" name="banner3-box"/>
          <p:cNvSpPr/>
          <p:nvPr/>
        </p:nvSpPr>
        <p:spPr>
          <a:xfrm>
            <a:off x="7112000" y="152400"/>
            <a:ext cx="8991600" cy="482600"/>
          </a:xfrm>
          <a:prstGeom prst="roundRect">
            <a:avLst>
              <a:gd name="adj" fmla="val 12000"/>
            </a:avLst>
          </a:prstGeom>
          <a:solidFill>
            <a:srgbClr val="F9E8EC"/>
          </a:solidFill>
          <a:ln w="12700">
            <a:solidFill>
              <a:srgbClr val="D9A7B4"/>
            </a:solidFill>
          </a:ln>
        </p:spPr>
      </p:sp>
      <p:sp>
        <p:nvSpPr>
          <p:cNvPr id="5" name="banner3-text"/>
          <p:cNvSpPr txBox="1"/>
          <p:nvPr/>
        </p:nvSpPr>
        <p:spPr>
          <a:xfrm>
            <a:off x="7518400" y="203200"/>
            <a:ext cx="848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850" noProof="1" b="1">
                <a:solidFill>
                  <a:srgbClr val="2E3A45"/>
                </a:solidFill>
                <a:latin typeface="MiSans"/>
                <a:ea typeface="MiSans"/>
              </a:rPr>
              <a:t>Implement a Knowledge Graph + Profisee metadata as the governed "single source of truth"</a:t>
            </a:r>
            <a:r>
              <a:rPr lang="en-US" sz="850" noProof="1">
                <a:solidFill>
                  <a:srgbClr val="47525C"/>
                </a:solidFill>
                <a:latin typeface="MiSans"/>
                <a:ea typeface="MiSans"/>
              </a:rPr>
              <a:t> — connecting decisions ↔ lessons ↔ outcomes ↔ assets ↔ SMEs, so "have we seen this before?" is answerable</a:t>
            </a:r>
            <a:endParaRPr lang="en-US" sz="1600" noProof="1"/>
          </a:p>
        </p:txBody>
      </p:sp>
      <p:sp>
        <p:nvSpPr>
          <p:cNvPr id="6" name="c3-circle"/>
          <p:cNvSpPr/>
          <p:nvPr/>
        </p:nvSpPr>
        <p:spPr>
          <a:xfrm>
            <a:off x="7213600" y="279400"/>
            <a:ext cx="228600" cy="228600"/>
          </a:xfrm>
          <a:prstGeom prst="ellipse">
            <a:avLst/>
          </a:prstGeom>
          <a:solidFill>
            <a:srgbClr val="2E3A45"/>
          </a:solidFill>
          <a:ln>
            <a:noFill/>
          </a:ln>
        </p:spPr>
      </p:sp>
      <p:sp>
        <p:nvSpPr>
          <p:cNvPr id="7" name="c3-num"/>
          <p:cNvSpPr txBox="1"/>
          <p:nvPr/>
        </p:nvSpPr>
        <p:spPr>
          <a:xfrm>
            <a:off x="7213600" y="27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950" noProof="1"/>
          </a:p>
        </p:txBody>
      </p:sp>
      <p:sp>
        <p:nvSpPr>
          <p:cNvPr id="8" name="zh-sources"/>
          <p:cNvSpPr txBox="1"/>
          <p:nvPr/>
        </p:nvSpPr>
        <p:spPr>
          <a:xfrm>
            <a:off x="152400" y="6858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CI Knowledge Sources</a:t>
            </a:r>
            <a:endParaRPr lang="en-US" sz="1050" noProof="1"/>
          </a:p>
        </p:txBody>
      </p:sp>
      <p:sp>
        <p:nvSpPr>
          <p:cNvPr id="9" name="zh-feeds"/>
          <p:cNvSpPr txBox="1"/>
          <p:nvPr/>
        </p:nvSpPr>
        <p:spPr>
          <a:xfrm>
            <a:off x="2184400" y="6858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Feeds</a:t>
            </a:r>
            <a:endParaRPr lang="en-US" sz="1050" noProof="1"/>
          </a:p>
        </p:txBody>
      </p:sp>
      <p:sp>
        <p:nvSpPr>
          <p:cNvPr id="10" name="zh-ingest"/>
          <p:cNvSpPr txBox="1"/>
          <p:nvPr/>
        </p:nvSpPr>
        <p:spPr>
          <a:xfrm>
            <a:off x="3098800" y="685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Ingestion &amp; AI Processing</a:t>
            </a:r>
            <a:endParaRPr lang="en-US" sz="1050" noProof="1"/>
          </a:p>
        </p:txBody>
      </p:sp>
      <p:sp>
        <p:nvSpPr>
          <p:cNvPr id="11" name="zh-platform"/>
          <p:cNvSpPr txBox="1"/>
          <p:nvPr/>
        </p:nvSpPr>
        <p:spPr>
          <a:xfrm>
            <a:off x="9372600" y="685800"/>
            <a:ext cx="314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Governed Knowledge Platform</a:t>
            </a:r>
            <a:endParaRPr lang="en-US" sz="1050" noProof="1"/>
          </a:p>
        </p:txBody>
      </p:sp>
      <p:sp>
        <p:nvSpPr>
          <p:cNvPr id="12" name="zh-access"/>
          <p:cNvSpPr txBox="1"/>
          <p:nvPr/>
        </p:nvSpPr>
        <p:spPr>
          <a:xfrm>
            <a:off x="12674600" y="685800"/>
            <a:ext cx="1371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Access &amp; Delivery</a:t>
            </a:r>
            <a:endParaRPr lang="en-US" sz="1050" noProof="1"/>
          </a:p>
        </p:txBody>
      </p:sp>
      <p:sp>
        <p:nvSpPr>
          <p:cNvPr id="13" name="zh-consumers"/>
          <p:cNvSpPr txBox="1"/>
          <p:nvPr/>
        </p:nvSpPr>
        <p:spPr>
          <a:xfrm>
            <a:off x="14198600" y="6858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2E3A45"/>
                </a:solidFill>
                <a:latin typeface="MiSans"/>
                <a:ea typeface="MiSans"/>
              </a:rPr>
              <a:t>Consumers</a:t>
            </a:r>
            <a:endParaRPr lang="en-US" sz="1050" noProof="1"/>
          </a:p>
        </p:txBody>
      </p:sp>
      <p:sp>
        <p:nvSpPr>
          <p:cNvPr id="14" name="src1-b"/>
          <p:cNvSpPr/>
          <p:nvPr/>
        </p:nvSpPr>
        <p:spPr>
          <a:xfrm>
            <a:off x="152400" y="9652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5" name="src1-t"/>
          <p:cNvSpPr txBox="1"/>
          <p:nvPr/>
        </p:nvSpPr>
        <p:spPr>
          <a:xfrm>
            <a:off x="254000" y="10414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Backcast Report SharePoint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DPO &amp; LP backcast decks (PDF / PPT)</a:t>
            </a:r>
            <a:endParaRPr lang="en-US" sz="1600" noProof="1"/>
          </a:p>
        </p:txBody>
      </p:sp>
      <p:sp>
        <p:nvSpPr>
          <p:cNvPr id="16" name="src2-b"/>
          <p:cNvSpPr/>
          <p:nvPr/>
        </p:nvSpPr>
        <p:spPr>
          <a:xfrm>
            <a:off x="152400" y="17018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7" name="src2-t"/>
          <p:cNvSpPr txBox="1"/>
          <p:nvPr/>
        </p:nvSpPr>
        <p:spPr>
          <a:xfrm>
            <a:off x="254000" y="17780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Regional SharePoints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RVCO · Gasoline Blending sites</a:t>
            </a:r>
            <a:endParaRPr lang="en-US" sz="1600" noProof="1"/>
          </a:p>
        </p:txBody>
      </p:sp>
      <p:sp>
        <p:nvSpPr>
          <p:cNvPr id="18" name="src3-b"/>
          <p:cNvSpPr/>
          <p:nvPr/>
        </p:nvSpPr>
        <p:spPr>
          <a:xfrm>
            <a:off x="152400" y="24384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9" name="src3-t"/>
          <p:cNvSpPr txBox="1"/>
          <p:nvPr/>
        </p:nvSpPr>
        <p:spPr>
          <a:xfrm>
            <a:off x="254000" y="25146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Email Chains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Regional Optimization &amp; Forecast Review</a:t>
            </a:r>
            <a:endParaRPr lang="en-US" sz="1600" noProof="1"/>
          </a:p>
        </p:txBody>
      </p:sp>
      <p:sp>
        <p:nvSpPr>
          <p:cNvPr id="20" name="src4-b"/>
          <p:cNvSpPr/>
          <p:nvPr/>
        </p:nvSpPr>
        <p:spPr>
          <a:xfrm>
            <a:off x="152400" y="31750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21" name="src4-t"/>
          <p:cNvSpPr txBox="1"/>
          <p:nvPr/>
        </p:nvSpPr>
        <p:spPr>
          <a:xfrm>
            <a:off x="254000" y="32512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MS Teams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Meeting recordings &amp; transcripts</a:t>
            </a:r>
            <a:endParaRPr lang="en-US" sz="1600" noProof="1"/>
          </a:p>
        </p:txBody>
      </p:sp>
      <p:sp>
        <p:nvSpPr>
          <p:cNvPr id="22" name="src5-b"/>
          <p:cNvSpPr/>
          <p:nvPr/>
        </p:nvSpPr>
        <p:spPr>
          <a:xfrm>
            <a:off x="152400" y="39116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23" name="src5-t"/>
          <p:cNvSpPr txBox="1"/>
          <p:nvPr/>
        </p:nvSpPr>
        <p:spPr>
          <a:xfrm>
            <a:off x="254000" y="39878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OneNote &amp; Working Notes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Informal SME knowledge</a:t>
            </a:r>
            <a:endParaRPr lang="en-US" sz="1600" noProof="1"/>
          </a:p>
        </p:txBody>
      </p:sp>
      <p:sp>
        <p:nvSpPr>
          <p:cNvPr id="24" name="src6-b"/>
          <p:cNvSpPr/>
          <p:nvPr/>
        </p:nvSpPr>
        <p:spPr>
          <a:xfrm>
            <a:off x="152400" y="46482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25" name="src6-t"/>
          <p:cNvSpPr txBox="1"/>
          <p:nvPr/>
        </p:nvSpPr>
        <p:spPr>
          <a:xfrm>
            <a:off x="254000" y="47244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Planning DB / PIR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Structured CI data &amp; LPO reports</a:t>
            </a:r>
            <a:endParaRPr lang="en-US" sz="1600" noProof="1"/>
          </a:p>
        </p:txBody>
      </p:sp>
      <p:sp>
        <p:nvSpPr>
          <p:cNvPr id="26" name="src7-b"/>
          <p:cNvSpPr/>
          <p:nvPr/>
        </p:nvSpPr>
        <p:spPr>
          <a:xfrm>
            <a:off x="152400" y="5384800"/>
            <a:ext cx="1905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27" name="src7-t"/>
          <p:cNvSpPr txBox="1"/>
          <p:nvPr/>
        </p:nvSpPr>
        <p:spPr>
          <a:xfrm>
            <a:off x="254000" y="54610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1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Value Opportunity Trackers</a:t>
            </a:r>
            <a:endParaRPr lang="en-US" sz="1600" noProof="1"/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SharePoint List / Excel</a:t>
            </a:r>
            <a:endParaRPr lang="en-US" sz="1600" noProof="1"/>
          </a:p>
        </p:txBody>
      </p:sp>
      <p:sp>
        <p:nvSpPr>
          <p:cNvPr id="28" name="c1-box"/>
          <p:cNvSpPr/>
          <p:nvPr/>
        </p:nvSpPr>
        <p:spPr>
          <a:xfrm>
            <a:off x="152400" y="6223000"/>
            <a:ext cx="1905000" cy="508000"/>
          </a:xfrm>
          <a:prstGeom prst="roundRect">
            <a:avLst>
              <a:gd name="adj" fmla="val 12000"/>
            </a:avLst>
          </a:prstGeom>
          <a:solidFill>
            <a:srgbClr val="F9E8EC"/>
          </a:solidFill>
          <a:ln w="12700">
            <a:solidFill>
              <a:srgbClr val="D9A7B4"/>
            </a:solidFill>
          </a:ln>
        </p:spPr>
      </p:sp>
      <p:sp>
        <p:nvSpPr>
          <p:cNvPr id="29" name="c1-text"/>
          <p:cNvSpPr txBox="1"/>
          <p:nvPr/>
        </p:nvSpPr>
        <p:spPr>
          <a:xfrm>
            <a:off x="533400" y="6273800"/>
            <a:ext cx="1498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E3A45"/>
                </a:solidFill>
                <a:latin typeface="MiSans"/>
                <a:ea typeface="MiSans"/>
              </a:rPr>
              <a:t>Automated capture</a:t>
            </a: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 — zero new manual burden for CI teams</a:t>
            </a:r>
            <a:endParaRPr lang="en-US" sz="1600" noProof="1"/>
          </a:p>
        </p:txBody>
      </p:sp>
      <p:sp>
        <p:nvSpPr>
          <p:cNvPr id="30" name="c1-circle"/>
          <p:cNvSpPr/>
          <p:nvPr/>
        </p:nvSpPr>
        <p:spPr>
          <a:xfrm>
            <a:off x="228600" y="6350000"/>
            <a:ext cx="228600" cy="228600"/>
          </a:xfrm>
          <a:prstGeom prst="ellipse">
            <a:avLst/>
          </a:prstGeom>
          <a:solidFill>
            <a:srgbClr val="2E3A45"/>
          </a:solidFill>
          <a:ln>
            <a:noFill/>
          </a:ln>
        </p:spPr>
      </p:sp>
      <p:sp>
        <p:nvSpPr>
          <p:cNvPr id="31" name="c1-num"/>
          <p:cNvSpPr txBox="1"/>
          <p:nvPr/>
        </p:nvSpPr>
        <p:spPr>
          <a:xfrm>
            <a:off x="228600" y="63500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950" noProof="1"/>
          </a:p>
        </p:txBody>
      </p:sp>
      <p:sp>
        <p:nvSpPr>
          <p:cNvPr id="32" name="feed1-b"/>
          <p:cNvSpPr/>
          <p:nvPr/>
        </p:nvSpPr>
        <p:spPr>
          <a:xfrm>
            <a:off x="2184400" y="965200"/>
            <a:ext cx="81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33" name="feed1-t"/>
          <p:cNvSpPr txBox="1"/>
          <p:nvPr/>
        </p:nvSpPr>
        <p:spPr>
          <a:xfrm>
            <a:off x="2222500" y="1003300"/>
            <a:ext cx="736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Graph API connectors</a:t>
            </a:r>
            <a:endParaRPr lang="en-US" sz="700" noProof="1"/>
          </a:p>
        </p:txBody>
      </p:sp>
      <p:sp>
        <p:nvSpPr>
          <p:cNvPr id="34" name="feed2-b"/>
          <p:cNvSpPr/>
          <p:nvPr/>
        </p:nvSpPr>
        <p:spPr>
          <a:xfrm>
            <a:off x="2184400" y="1676400"/>
            <a:ext cx="81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35" name="feed2-t"/>
          <p:cNvSpPr txBox="1"/>
          <p:nvPr/>
        </p:nvSpPr>
        <p:spPr>
          <a:xfrm>
            <a:off x="2222500" y="1714500"/>
            <a:ext cx="736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Scheduled batch crawl</a:t>
            </a:r>
            <a:endParaRPr lang="en-US" sz="700" noProof="1"/>
          </a:p>
        </p:txBody>
      </p:sp>
      <p:sp>
        <p:nvSpPr>
          <p:cNvPr id="36" name="feed3-b"/>
          <p:cNvSpPr/>
          <p:nvPr/>
        </p:nvSpPr>
        <p:spPr>
          <a:xfrm>
            <a:off x="2184400" y="2387600"/>
            <a:ext cx="81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37" name="feed3-t"/>
          <p:cNvSpPr txBox="1"/>
          <p:nvPr/>
        </p:nvSpPr>
        <p:spPr>
          <a:xfrm>
            <a:off x="2222500" y="2425700"/>
            <a:ext cx="736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Event triggers (new file posted)</a:t>
            </a:r>
            <a:endParaRPr lang="en-US" sz="700" noProof="1"/>
          </a:p>
        </p:txBody>
      </p:sp>
      <p:sp>
        <p:nvSpPr>
          <p:cNvPr id="38" name="feed4-b"/>
          <p:cNvSpPr/>
          <p:nvPr/>
        </p:nvSpPr>
        <p:spPr>
          <a:xfrm>
            <a:off x="2184400" y="3098800"/>
            <a:ext cx="81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39" name="feed4-t"/>
          <p:cNvSpPr txBox="1"/>
          <p:nvPr/>
        </p:nvSpPr>
        <p:spPr>
          <a:xfrm>
            <a:off x="2222500" y="3136900"/>
            <a:ext cx="736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Manual SME upload</a:t>
            </a:r>
            <a:endParaRPr lang="en-US" sz="700" noProof="1"/>
          </a:p>
        </p:txBody>
      </p:sp>
      <p:sp>
        <p:nvSpPr>
          <p:cNvPr id="40" name="arr-sf"/>
          <p:cNvSpPr/>
          <p:nvPr>
            <p:extLst>
              <p:ext uri="{F5677B7D-0D2A-4D9B-9A5C-6D8D7D0E5A5D}">
                <pptd:line encoding="base64url">eyJ2aWV3Qm94IjpbOCw4XSwicG9pbnRzIjoiMCw0IDgsNCIsImN1cnZlIjoic2hhcnAifQ</pptd:line>
              </p:ext>
            </p:extLst>
          </p:nvPr>
        </p:nvSpPr>
        <p:spPr>
          <a:xfrm>
            <a:off x="2070100" y="2286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4"/>
                </a:moveTo>
                <a:lnTo>
                  <a:pt x="8" y="4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41" name="arr-fc"/>
          <p:cNvSpPr/>
          <p:nvPr>
            <p:extLst>
              <p:ext uri="{F5677B7D-0D2A-4D9B-9A5C-6D8D7D0E5A5D}">
                <pptd:line encoding="base64url">eyJ2aWV3Qm94IjpbOCw4XSwicG9pbnRzIjoiMCw0IDgsNCIsImN1cnZlIjoic2hhcnAifQ</pptd:line>
              </p:ext>
            </p:extLst>
          </p:nvPr>
        </p:nvSpPr>
        <p:spPr>
          <a:xfrm>
            <a:off x="3009900" y="2286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4"/>
                </a:moveTo>
                <a:lnTo>
                  <a:pt x="8" y="4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42" name="central-panel"/>
          <p:cNvSpPr/>
          <p:nvPr/>
        </p:nvSpPr>
        <p:spPr>
          <a:xfrm>
            <a:off x="3098800" y="914400"/>
            <a:ext cx="6197600" cy="5791200"/>
          </a:xfrm>
          <a:prstGeom prst="rect">
            <a:avLst/>
          </a:prstGeom>
          <a:solidFill>
            <a:srgbClr val="F5F2EC"/>
          </a:solidFill>
          <a:ln w="12700">
            <a:solidFill>
              <a:srgbClr val="DCD5C6"/>
            </a:solidFill>
          </a:ln>
        </p:spPr>
      </p:sp>
      <p:sp>
        <p:nvSpPr>
          <p:cNvPr id="43" name="lbl-ingestion"/>
          <p:cNvSpPr txBox="1"/>
          <p:nvPr/>
        </p:nvSpPr>
        <p:spPr>
          <a:xfrm>
            <a:off x="3200400" y="990600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8C9390"/>
                </a:solidFill>
                <a:latin typeface="MiSans"/>
                <a:ea typeface="MiSans"/>
              </a:rPr>
              <a:t>Ingestion</a:t>
            </a:r>
            <a:endParaRPr lang="en-US" sz="800" noProof="1"/>
          </a:p>
        </p:txBody>
      </p:sp>
      <p:sp>
        <p:nvSpPr>
          <p:cNvPr id="44" name="lbl-landing"/>
          <p:cNvSpPr txBox="1"/>
          <p:nvPr/>
        </p:nvSpPr>
        <p:spPr>
          <a:xfrm>
            <a:off x="4140200" y="990600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8C9390"/>
                </a:solidFill>
                <a:latin typeface="MiSans"/>
                <a:ea typeface="MiSans"/>
              </a:rPr>
              <a:t>Landing</a:t>
            </a:r>
            <a:endParaRPr lang="en-US" sz="800" noProof="1"/>
          </a:p>
        </p:txBody>
      </p:sp>
      <p:sp>
        <p:nvSpPr>
          <p:cNvPr id="45" name="lbl-processing"/>
          <p:cNvSpPr txBox="1"/>
          <p:nvPr/>
        </p:nvSpPr>
        <p:spPr>
          <a:xfrm>
            <a:off x="5130800" y="990600"/>
            <a:ext cx="406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8C9390"/>
                </a:solidFill>
                <a:latin typeface="MiSans"/>
                <a:ea typeface="MiSans"/>
              </a:rPr>
              <a:t>Processing — AI-assisted curation</a:t>
            </a:r>
            <a:endParaRPr lang="en-US" sz="800" noProof="1"/>
          </a:p>
        </p:txBody>
      </p:sp>
      <p:sp>
        <p:nvSpPr>
          <p:cNvPr id="46" name="ing1-b"/>
          <p:cNvSpPr/>
          <p:nvPr/>
        </p:nvSpPr>
        <p:spPr>
          <a:xfrm>
            <a:off x="3200400" y="12192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47" name="ing1-t"/>
          <p:cNvSpPr txBox="1"/>
          <p:nvPr/>
        </p:nvSpPr>
        <p:spPr>
          <a:xfrm>
            <a:off x="3238500" y="12573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Ingestion microservices</a:t>
            </a:r>
            <a:endParaRPr lang="en-US" sz="700" noProof="1"/>
          </a:p>
        </p:txBody>
      </p:sp>
      <p:sp>
        <p:nvSpPr>
          <p:cNvPr id="48" name="ing2-b"/>
          <p:cNvSpPr/>
          <p:nvPr/>
        </p:nvSpPr>
        <p:spPr>
          <a:xfrm>
            <a:off x="3200400" y="20066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49" name="ing2-t"/>
          <p:cNvSpPr txBox="1"/>
          <p:nvPr/>
        </p:nvSpPr>
        <p:spPr>
          <a:xfrm>
            <a:off x="3238500" y="20447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Connector framework — push / pull</a:t>
            </a:r>
            <a:endParaRPr lang="en-US" sz="700" noProof="1"/>
          </a:p>
        </p:txBody>
      </p:sp>
      <p:sp>
        <p:nvSpPr>
          <p:cNvPr id="50" name="ing3-b"/>
          <p:cNvSpPr/>
          <p:nvPr/>
        </p:nvSpPr>
        <p:spPr>
          <a:xfrm>
            <a:off x="3200400" y="27940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51" name="ing3-t"/>
          <p:cNvSpPr txBox="1"/>
          <p:nvPr/>
        </p:nvSpPr>
        <p:spPr>
          <a:xfrm>
            <a:off x="3238500" y="28321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Format normalization</a:t>
            </a:r>
            <a:endParaRPr lang="en-US" sz="700" noProof="1"/>
          </a:p>
        </p:txBody>
      </p:sp>
      <p:sp>
        <p:nvSpPr>
          <p:cNvPr id="52" name="ing4-b"/>
          <p:cNvSpPr/>
          <p:nvPr/>
        </p:nvSpPr>
        <p:spPr>
          <a:xfrm>
            <a:off x="3200400" y="35814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53" name="ing4-t"/>
          <p:cNvSpPr txBox="1"/>
          <p:nvPr/>
        </p:nvSpPr>
        <p:spPr>
          <a:xfrm>
            <a:off x="3238500" y="36195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Sensitive-content flagging</a:t>
            </a:r>
            <a:endParaRPr lang="en-US" sz="700" noProof="1"/>
          </a:p>
        </p:txBody>
      </p:sp>
      <p:sp>
        <p:nvSpPr>
          <p:cNvPr id="54" name="lan1-b"/>
          <p:cNvSpPr/>
          <p:nvPr/>
        </p:nvSpPr>
        <p:spPr>
          <a:xfrm>
            <a:off x="4140200" y="12192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55" name="lan1-t"/>
          <p:cNvSpPr txBox="1"/>
          <p:nvPr/>
        </p:nvSpPr>
        <p:spPr>
          <a:xfrm>
            <a:off x="4178300" y="12573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Immutable raw store</a:t>
            </a:r>
            <a:endParaRPr lang="en-US" sz="700" noProof="1"/>
          </a:p>
        </p:txBody>
      </p:sp>
      <p:sp>
        <p:nvSpPr>
          <p:cNvPr id="56" name="lan2-b"/>
          <p:cNvSpPr/>
          <p:nvPr/>
        </p:nvSpPr>
        <p:spPr>
          <a:xfrm>
            <a:off x="4140200" y="20066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57" name="lan2-t"/>
          <p:cNvSpPr txBox="1"/>
          <p:nvPr/>
        </p:nvSpPr>
        <p:spPr>
          <a:xfrm>
            <a:off x="4178300" y="20447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Ingestion event log</a:t>
            </a:r>
            <a:endParaRPr lang="en-US" sz="700" noProof="1"/>
          </a:p>
        </p:txBody>
      </p:sp>
      <p:sp>
        <p:nvSpPr>
          <p:cNvPr id="58" name="lan3-b"/>
          <p:cNvSpPr/>
          <p:nvPr/>
        </p:nvSpPr>
        <p:spPr>
          <a:xfrm>
            <a:off x="4140200" y="2794000"/>
            <a:ext cx="838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59" name="lan3-t"/>
          <p:cNvSpPr txBox="1"/>
          <p:nvPr/>
        </p:nvSpPr>
        <p:spPr>
          <a:xfrm>
            <a:off x="4178300" y="283210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Source lineage pointers</a:t>
            </a:r>
            <a:endParaRPr lang="en-US" sz="700" noProof="1"/>
          </a:p>
        </p:txBody>
      </p:sp>
      <p:sp>
        <p:nvSpPr>
          <p:cNvPr id="60" name="princ-b"/>
          <p:cNvSpPr/>
          <p:nvPr/>
        </p:nvSpPr>
        <p:spPr>
          <a:xfrm>
            <a:off x="3200400" y="4470400"/>
            <a:ext cx="1778000" cy="1168400"/>
          </a:xfrm>
          <a:prstGeom prst="rect">
            <a:avLst/>
          </a:prstGeom>
          <a:noFill/>
          <a:ln w="12700">
            <a:solidFill>
              <a:srgbClr val="C3CCC6"/>
            </a:solidFill>
            <a:prstDash val="dash"/>
          </a:ln>
        </p:spPr>
      </p:sp>
      <p:sp>
        <p:nvSpPr>
          <p:cNvPr id="61" name="princ-t"/>
          <p:cNvSpPr txBox="1"/>
          <p:nvPr/>
        </p:nvSpPr>
        <p:spPr>
          <a:xfrm>
            <a:off x="3276600" y="4546600"/>
            <a:ext cx="1625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700" noProof="1" b="1">
                <a:solidFill>
                  <a:srgbClr val="2E3A45"/>
                </a:solidFill>
                <a:latin typeface="MiSans"/>
                <a:ea typeface="MiSans"/>
              </a:rPr>
              <a:t>INGESTION PRINCIPLES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Originals immutable · lineage on every asset · sensitivity flagged at capture · no content altered before curation</a:t>
            </a:r>
            <a:endParaRPr lang="en-US" sz="1600" noProof="1"/>
          </a:p>
        </p:txBody>
      </p:sp>
      <p:sp>
        <p:nvSpPr>
          <p:cNvPr id="62" name="tai-b"/>
          <p:cNvSpPr/>
          <p:nvPr/>
        </p:nvSpPr>
        <p:spPr>
          <a:xfrm>
            <a:off x="5130800" y="1219200"/>
            <a:ext cx="1905000" cy="238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63" name="tai-t"/>
          <p:cNvSpPr txBox="1"/>
          <p:nvPr/>
        </p:nvSpPr>
        <p:spPr>
          <a:xfrm>
            <a:off x="5207000" y="1295400"/>
            <a:ext cx="17526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TRADITIONAL AI / ML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OCR &amp; layout extraction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Speech-to-text + speaker diarization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Document classification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Dedup / near-duplicate detection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Table extraction (Excel / PDF)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Deterministic, high-volume digitization of PDFs, decks, recordings &amp; notes</a:t>
            </a:r>
            <a:endParaRPr lang="en-US" sz="1600" noProof="1"/>
          </a:p>
        </p:txBody>
      </p:sp>
      <p:sp>
        <p:nvSpPr>
          <p:cNvPr id="64" name="llm-b"/>
          <p:cNvSpPr/>
          <p:nvPr/>
        </p:nvSpPr>
        <p:spPr>
          <a:xfrm>
            <a:off x="7137400" y="1219200"/>
            <a:ext cx="2057400" cy="2489200"/>
          </a:xfrm>
          <a:prstGeom prst="rect">
            <a:avLst/>
          </a:prstGeom>
          <a:solidFill>
            <a:srgbClr val="F9E8EC"/>
          </a:solidFill>
          <a:ln w="12700">
            <a:solidFill>
              <a:srgbClr val="D9A7B4"/>
            </a:solidFill>
          </a:ln>
        </p:spPr>
      </p:sp>
      <p:sp>
        <p:nvSpPr>
          <p:cNvPr id="65" name="llm-t"/>
          <p:cNvSpPr txBox="1"/>
          <p:nvPr/>
        </p:nvSpPr>
        <p:spPr>
          <a:xfrm>
            <a:off x="7213600" y="1295400"/>
            <a:ext cx="1905000" cy="233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LLM CURATION — drafts only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Template extraction — lessons, decision rationale, recommendations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Taxonomy tagging — domain, region, knowledge type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Summarization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Entity &amp; relationship extraction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Draft confidence scoring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• Embedding &amp; chunking — metadata-carrying vectors</a:t>
            </a:r>
            <a:endParaRPr lang="en-US" sz="1600" noProof="1"/>
          </a:p>
        </p:txBody>
      </p:sp>
      <p:sp>
        <p:nvSpPr>
          <p:cNvPr id="66" name="c2-circle"/>
          <p:cNvSpPr/>
          <p:nvPr/>
        </p:nvSpPr>
        <p:spPr>
          <a:xfrm>
            <a:off x="7061200" y="1143000"/>
            <a:ext cx="228600" cy="228600"/>
          </a:xfrm>
          <a:prstGeom prst="ellipse">
            <a:avLst/>
          </a:prstGeom>
          <a:solidFill>
            <a:srgbClr val="2E3A45"/>
          </a:solidFill>
          <a:ln>
            <a:noFill/>
          </a:ln>
        </p:spPr>
      </p:sp>
      <p:sp>
        <p:nvSpPr>
          <p:cNvPr id="67" name="c2-num"/>
          <p:cNvSpPr txBox="1"/>
          <p:nvPr/>
        </p:nvSpPr>
        <p:spPr>
          <a:xfrm>
            <a:off x="7061200" y="11430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950" noProof="1"/>
          </a:p>
        </p:txBody>
      </p:sp>
      <p:sp>
        <p:nvSpPr>
          <p:cNvPr id="68" name="sme-b"/>
          <p:cNvSpPr/>
          <p:nvPr/>
        </p:nvSpPr>
        <p:spPr>
          <a:xfrm>
            <a:off x="5130800" y="3860800"/>
            <a:ext cx="40640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A7B4"/>
            </a:solidFill>
          </a:ln>
        </p:spPr>
      </p:sp>
      <p:sp>
        <p:nvSpPr>
          <p:cNvPr id="69" name="sme-t"/>
          <p:cNvSpPr txBox="1"/>
          <p:nvPr/>
        </p:nvSpPr>
        <p:spPr>
          <a:xfrm>
            <a:off x="5232400" y="3924300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SME REVIEW QUEUE — the human gate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Accept / edit / reject · nothing enters the governed store unreviewed · SME corrections drive the accuracy loop</a:t>
            </a:r>
            <a:endParaRPr lang="en-US" sz="1600" noProof="1"/>
          </a:p>
        </p:txBody>
      </p:sp>
      <p:sp>
        <p:nvSpPr>
          <p:cNvPr id="70" name="c4-circle"/>
          <p:cNvSpPr/>
          <p:nvPr/>
        </p:nvSpPr>
        <p:spPr>
          <a:xfrm>
            <a:off x="5054600" y="3784600"/>
            <a:ext cx="228600" cy="228600"/>
          </a:xfrm>
          <a:prstGeom prst="ellipse">
            <a:avLst/>
          </a:prstGeom>
          <a:solidFill>
            <a:srgbClr val="2E3A45"/>
          </a:solidFill>
          <a:ln>
            <a:noFill/>
          </a:ln>
        </p:spPr>
      </p:sp>
      <p:sp>
        <p:nvSpPr>
          <p:cNvPr id="71" name="c4-num"/>
          <p:cNvSpPr txBox="1"/>
          <p:nvPr/>
        </p:nvSpPr>
        <p:spPr>
          <a:xfrm>
            <a:off x="5054600" y="3784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  <a:endParaRPr lang="en-US" sz="950" noProof="1"/>
          </a:p>
        </p:txBody>
      </p:sp>
      <p:sp>
        <p:nvSpPr>
          <p:cNvPr id="72" name="qm-b"/>
          <p:cNvSpPr/>
          <p:nvPr/>
        </p:nvSpPr>
        <p:spPr>
          <a:xfrm>
            <a:off x="5130800" y="4876800"/>
            <a:ext cx="4064000" cy="711200"/>
          </a:xfrm>
          <a:prstGeom prst="rect">
            <a:avLst/>
          </a:prstGeom>
          <a:noFill/>
          <a:ln w="12700">
            <a:solidFill>
              <a:srgbClr val="C3CCC6"/>
            </a:solidFill>
            <a:prstDash val="dash"/>
          </a:ln>
        </p:spPr>
      </p:sp>
      <p:sp>
        <p:nvSpPr>
          <p:cNvPr id="73" name="qm-t"/>
          <p:cNvSpPr txBox="1"/>
          <p:nvPr/>
        </p:nvSpPr>
        <p:spPr>
          <a:xfrm>
            <a:off x="5232400" y="4940300"/>
            <a:ext cx="3886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700" noProof="1" b="1">
                <a:solidFill>
                  <a:srgbClr val="2E3A45"/>
                </a:solidFill>
                <a:latin typeface="MiSans"/>
                <a:ea typeface="MiSans"/>
              </a:rPr>
              <a:t>EXTRACTION QUALITY MONITORING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700" noProof="1">
                <a:solidFill>
                  <a:srgbClr val="47525C"/>
                </a:solidFill>
                <a:latin typeface="MiSans"/>
                <a:ea typeface="MiSans"/>
              </a:rPr>
              <a:t>SME edit patterns refine prompts &amp; models · low-confidence clusters routed for targeted re-review</a:t>
            </a:r>
            <a:endParaRPr lang="en-US" sz="1600" noProof="1"/>
          </a:p>
        </p:txBody>
      </p:sp>
      <p:sp>
        <p:nvSpPr>
          <p:cNvPr id="74" name="arr-il"/>
          <p:cNvSpPr/>
          <p:nvPr>
            <p:extLst>
              <p:ext uri="{F5677B7D-0D2A-4D9B-9A5C-6D8D7D0E5A5D}">
                <pptd:line encoding="base64url">eyJ2aWV3Qm94IjpbOCw4XSwicG9pbnRzIjoiMCw0IDgsNCIsImN1cnZlIjoic2hhcnAifQ</pptd:line>
              </p:ext>
            </p:extLst>
          </p:nvPr>
        </p:nvSpPr>
        <p:spPr>
          <a:xfrm>
            <a:off x="4038600" y="2349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4"/>
                </a:moveTo>
                <a:lnTo>
                  <a:pt x="8" y="4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75" name="arr-lt"/>
          <p:cNvSpPr/>
          <p:nvPr>
            <p:extLst>
              <p:ext uri="{F5677B7D-0D2A-4D9B-9A5C-6D8D7D0E5A5D}">
                <pptd:line encoding="base64url">eyJ2aWV3Qm94IjpbMTIsOF0sInBvaW50cyI6IjAsNCAxMiw0IiwiY3VydmUiOiJzaGFycCJ9</pptd:line>
              </p:ext>
            </p:extLst>
          </p:nvPr>
        </p:nvSpPr>
        <p:spPr>
          <a:xfrm>
            <a:off x="4978400" y="2235200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0" y="4"/>
                </a:moveTo>
                <a:lnTo>
                  <a:pt x="12" y="4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76" name="arr-tl"/>
          <p:cNvSpPr/>
          <p:nvPr>
            <p:extLst>
              <p:ext uri="{F5677B7D-0D2A-4D9B-9A5C-6D8D7D0E5A5D}">
                <pptd:line encoding="base64url">eyJ2aWV3Qm94IjpbOCw4XSwicG9pbnRzIjoiMCw0IDgsNCIsImN1cnZlIjoic2hhcnAifQ</pptd:line>
              </p:ext>
            </p:extLst>
          </p:nvPr>
        </p:nvSpPr>
        <p:spPr>
          <a:xfrm>
            <a:off x="7035800" y="2286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4"/>
                </a:moveTo>
                <a:lnTo>
                  <a:pt x="8" y="4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77" name="arr-ls"/>
          <p:cNvSpPr/>
          <p:nvPr>
            <p:extLst>
              <p:ext uri="{F5677B7D-0D2A-4D9B-9A5C-6D8D7D0E5A5D}">
                <pptd:line encoding="base64url">eyJ2aWV3Qm94IjpbOCwxMl0sInBvaW50cyI6IjQsMCA0LDEyIiwiY3VydmUiOiJzaGFycCJ9</pptd:line>
              </p:ext>
            </p:extLst>
          </p:nvPr>
        </p:nvSpPr>
        <p:spPr>
          <a:xfrm>
            <a:off x="8077200" y="3708400"/>
            <a:ext cx="101600" cy="152400"/>
          </a:xfrm>
          <a:custGeom>
            <a:avLst/>
            <a:gdLst/>
            <a:ahLst/>
            <a:cxnLst/>
            <a:rect l="l" t="t" r="r" b="b"/>
            <a:pathLst>
              <a:path w="8" h="12">
                <a:moveTo>
                  <a:pt x="4" y="0"/>
                </a:moveTo>
                <a:lnTo>
                  <a:pt x="4" y="12"/>
                </a:lnTo>
              </a:path>
            </a:pathLst>
          </a:custGeom>
          <a:noFill/>
          <a:ln w="19050">
            <a:solidFill>
              <a:srgbClr val="8C9390"/>
            </a:solidFill>
            <a:tailEnd type="arrow"/>
          </a:ln>
        </p:spPr>
      </p:sp>
      <p:sp>
        <p:nvSpPr>
          <p:cNvPr id="78" name="platform-panel"/>
          <p:cNvSpPr/>
          <p:nvPr/>
        </p:nvSpPr>
        <p:spPr>
          <a:xfrm>
            <a:off x="9372600" y="914400"/>
            <a:ext cx="3149600" cy="5791200"/>
          </a:xfrm>
          <a:prstGeom prst="rect">
            <a:avLst/>
          </a:prstGeom>
          <a:solidFill>
            <a:srgbClr val="F5F2EC"/>
          </a:solidFill>
          <a:ln w="12700">
            <a:solidFill>
              <a:srgbClr val="DCD5C6"/>
            </a:solidFill>
          </a:ln>
        </p:spPr>
      </p:sp>
      <p:sp>
        <p:nvSpPr>
          <p:cNvPr id="79" name="pf1-b"/>
          <p:cNvSpPr/>
          <p:nvPr/>
        </p:nvSpPr>
        <p:spPr>
          <a:xfrm>
            <a:off x="9474200" y="1066800"/>
            <a:ext cx="2946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80" name="pf1-t"/>
          <p:cNvSpPr txBox="1"/>
          <p:nvPr/>
        </p:nvSpPr>
        <p:spPr>
          <a:xfrm>
            <a:off x="9575800" y="1130300"/>
            <a:ext cx="274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Knowledge Repository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Raw + contextualized knowledge assets</a:t>
            </a:r>
            <a:endParaRPr lang="en-US" sz="1600" noProof="1"/>
          </a:p>
        </p:txBody>
      </p:sp>
      <p:sp>
        <p:nvSpPr>
          <p:cNvPr id="81" name="pf2-b"/>
          <p:cNvSpPr/>
          <p:nvPr/>
        </p:nvSpPr>
        <p:spPr>
          <a:xfrm>
            <a:off x="9474200" y="1879600"/>
            <a:ext cx="2946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82" name="pf2-t"/>
          <p:cNvSpPr txBox="1"/>
          <p:nvPr/>
        </p:nvSpPr>
        <p:spPr>
          <a:xfrm>
            <a:off x="9575800" y="1943100"/>
            <a:ext cx="274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Profisee Metadata &amp; Taxonomy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Common metadata spine — one taxonomy for every source</a:t>
            </a:r>
            <a:endParaRPr lang="en-US" sz="1600" noProof="1"/>
          </a:p>
        </p:txBody>
      </p:sp>
      <p:sp>
        <p:nvSpPr>
          <p:cNvPr id="83" name="pf3-b"/>
          <p:cNvSpPr/>
          <p:nvPr/>
        </p:nvSpPr>
        <p:spPr>
          <a:xfrm>
            <a:off x="9474200" y="2692400"/>
            <a:ext cx="29464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A7B4"/>
            </a:solidFill>
          </a:ln>
        </p:spPr>
      </p:sp>
      <p:sp>
        <p:nvSpPr>
          <p:cNvPr id="84" name="pf3-t"/>
          <p:cNvSpPr txBox="1"/>
          <p:nvPr/>
        </p:nvSpPr>
        <p:spPr>
          <a:xfrm>
            <a:off x="9575800" y="27559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Knowledge Graph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Decisions ↔ lessons ↔ outcomes ↔ assets ↔ SMEs — answers "have we seen this before?"</a:t>
            </a:r>
            <a:endParaRPr lang="en-US" sz="1600" noProof="1"/>
          </a:p>
        </p:txBody>
      </p:sp>
      <p:sp>
        <p:nvSpPr>
          <p:cNvPr id="85" name="pf4-b"/>
          <p:cNvSpPr/>
          <p:nvPr/>
        </p:nvSpPr>
        <p:spPr>
          <a:xfrm>
            <a:off x="9474200" y="3606800"/>
            <a:ext cx="2946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86" name="pf4-t"/>
          <p:cNvSpPr txBox="1"/>
          <p:nvPr/>
        </p:nvSpPr>
        <p:spPr>
          <a:xfrm>
            <a:off x="9575800" y="3670300"/>
            <a:ext cx="274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Vector Index + Keyword Index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Metadata-carrying embeddings for semantic search</a:t>
            </a:r>
            <a:endParaRPr lang="en-US" sz="1600" noProof="1"/>
          </a:p>
        </p:txBody>
      </p:sp>
      <p:sp>
        <p:nvSpPr>
          <p:cNvPr id="87" name="pf5-b"/>
          <p:cNvSpPr/>
          <p:nvPr/>
        </p:nvSpPr>
        <p:spPr>
          <a:xfrm>
            <a:off x="9474200" y="4419600"/>
            <a:ext cx="2946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88" name="pf5-t"/>
          <p:cNvSpPr txBox="1"/>
          <p:nvPr/>
        </p:nvSpPr>
        <p:spPr>
          <a:xfrm>
            <a:off x="9575800" y="4483100"/>
            <a:ext cx="274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Hybrid Retrieval &amp; Ranking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Semantic + keyword + graph traversal, fused &amp; ranked</a:t>
            </a:r>
            <a:endParaRPr lang="en-US" sz="1600" noProof="1"/>
          </a:p>
        </p:txBody>
      </p:sp>
      <p:sp>
        <p:nvSpPr>
          <p:cNvPr id="89" name="pf6-b"/>
          <p:cNvSpPr/>
          <p:nvPr/>
        </p:nvSpPr>
        <p:spPr>
          <a:xfrm>
            <a:off x="9474200" y="5232400"/>
            <a:ext cx="2946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90" name="pf6-t"/>
          <p:cNvSpPr txBox="1"/>
          <p:nvPr/>
        </p:nvSpPr>
        <p:spPr>
          <a:xfrm>
            <a:off x="9575800" y="5295900"/>
            <a:ext cx="274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Quality &amp; Confidence Layer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700" noProof="1">
                <a:solidFill>
                  <a:srgbClr val="8C9390"/>
                </a:solidFill>
                <a:latin typeface="MiSans"/>
                <a:ea typeface="MiSans"/>
              </a:rPr>
              <a:t>Every asset tiered High / Medium / Low — shown at consumption</a:t>
            </a:r>
            <a:endParaRPr lang="en-US" sz="1600" noProof="1"/>
          </a:p>
        </p:txBody>
      </p:sp>
      <p:sp>
        <p:nvSpPr>
          <p:cNvPr id="91" name="pf-note-b"/>
          <p:cNvSpPr/>
          <p:nvPr/>
        </p:nvSpPr>
        <p:spPr>
          <a:xfrm>
            <a:off x="9474200" y="6045200"/>
            <a:ext cx="2946400" cy="558800"/>
          </a:xfrm>
          <a:prstGeom prst="rect">
            <a:avLst/>
          </a:prstGeom>
          <a:noFill/>
          <a:ln w="12700">
            <a:solidFill>
              <a:srgbClr val="C3CCC6"/>
            </a:solidFill>
            <a:prstDash val="dash"/>
          </a:ln>
        </p:spPr>
      </p:sp>
      <p:sp>
        <p:nvSpPr>
          <p:cNvPr id="92" name="pf-note-t"/>
          <p:cNvSpPr txBox="1"/>
          <p:nvPr/>
        </p:nvSpPr>
        <p:spPr>
          <a:xfrm>
            <a:off x="9575800" y="60960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650" noProof="1" b="1">
                <a:solidFill>
                  <a:srgbClr val="8C9390"/>
                </a:solidFill>
                <a:latin typeface="MiSans"/>
                <a:ea typeface="MiSans"/>
              </a:rPr>
              <a:t>Persistent source links</a:t>
            </a: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 — every asset cites its raw artifact (page / section / timestamp)</a:t>
            </a:r>
            <a:endParaRPr lang="en-US" sz="1600" noProof="1"/>
          </a:p>
        </p:txBody>
      </p:sp>
      <p:sp>
        <p:nvSpPr>
          <p:cNvPr id="93" name="ac1-b"/>
          <p:cNvSpPr/>
          <p:nvPr/>
        </p:nvSpPr>
        <p:spPr>
          <a:xfrm>
            <a:off x="12674600" y="965200"/>
            <a:ext cx="13716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94" name="ac1-t"/>
          <p:cNvSpPr txBox="1"/>
          <p:nvPr/>
        </p:nvSpPr>
        <p:spPr>
          <a:xfrm>
            <a:off x="12725400" y="1016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Faceted Search UI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Domain · region · tier</a:t>
            </a:r>
            <a:endParaRPr lang="en-US" sz="1600" noProof="1"/>
          </a:p>
        </p:txBody>
      </p:sp>
      <p:sp>
        <p:nvSpPr>
          <p:cNvPr id="95" name="ac2-b"/>
          <p:cNvSpPr/>
          <p:nvPr/>
        </p:nvSpPr>
        <p:spPr>
          <a:xfrm>
            <a:off x="12674600" y="1727200"/>
            <a:ext cx="13716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96" name="ac2-t"/>
          <p:cNvSpPr txBox="1"/>
          <p:nvPr/>
        </p:nvSpPr>
        <p:spPr>
          <a:xfrm>
            <a:off x="12725400" y="1778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Q&amp;A Assistant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Citations + confidence badges</a:t>
            </a:r>
            <a:endParaRPr lang="en-US" sz="1600" noProof="1"/>
          </a:p>
        </p:txBody>
      </p:sp>
      <p:sp>
        <p:nvSpPr>
          <p:cNvPr id="97" name="ac3-b"/>
          <p:cNvSpPr/>
          <p:nvPr/>
        </p:nvSpPr>
        <p:spPr>
          <a:xfrm>
            <a:off x="12674600" y="2489200"/>
            <a:ext cx="13716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98" name="ac3-t"/>
          <p:cNvSpPr txBox="1"/>
          <p:nvPr/>
        </p:nvSpPr>
        <p:spPr>
          <a:xfrm>
            <a:off x="12725400" y="2540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APIs / MCP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Knowledge for other tools</a:t>
            </a:r>
            <a:endParaRPr lang="en-US" sz="1600" noProof="1"/>
          </a:p>
        </p:txBody>
      </p:sp>
      <p:sp>
        <p:nvSpPr>
          <p:cNvPr id="99" name="ac4-b"/>
          <p:cNvSpPr/>
          <p:nvPr/>
        </p:nvSpPr>
        <p:spPr>
          <a:xfrm>
            <a:off x="12674600" y="3251200"/>
            <a:ext cx="13716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00" name="ac4-t"/>
          <p:cNvSpPr txBox="1"/>
          <p:nvPr/>
        </p:nvSpPr>
        <p:spPr>
          <a:xfrm>
            <a:off x="12725400" y="3302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Subscriptions &amp; Alerts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New lessons in your domain</a:t>
            </a:r>
            <a:endParaRPr lang="en-US" sz="1600" noProof="1"/>
          </a:p>
        </p:txBody>
      </p:sp>
      <p:sp>
        <p:nvSpPr>
          <p:cNvPr id="101" name="ac5-b"/>
          <p:cNvSpPr/>
          <p:nvPr/>
        </p:nvSpPr>
        <p:spPr>
          <a:xfrm>
            <a:off x="12674600" y="4013200"/>
            <a:ext cx="13716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02" name="ac5-t"/>
          <p:cNvSpPr txBox="1"/>
          <p:nvPr/>
        </p:nvSpPr>
        <p:spPr>
          <a:xfrm>
            <a:off x="12725400" y="40640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Usage Feedback Capture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Ratings &amp; decision signals</a:t>
            </a:r>
            <a:endParaRPr lang="en-US" sz="1600" noProof="1"/>
          </a:p>
        </p:txBody>
      </p:sp>
      <p:sp>
        <p:nvSpPr>
          <p:cNvPr id="103" name="cn1-b"/>
          <p:cNvSpPr/>
          <p:nvPr/>
        </p:nvSpPr>
        <p:spPr>
          <a:xfrm>
            <a:off x="14198600" y="965200"/>
            <a:ext cx="1905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04" name="cn1-t"/>
          <p:cNvSpPr txBox="1"/>
          <p:nvPr/>
        </p:nvSpPr>
        <p:spPr>
          <a:xfrm>
            <a:off x="14300200" y="1028700"/>
            <a:ext cx="170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Planning &amp; Scheduling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LP / DPO teams</a:t>
            </a:r>
            <a:endParaRPr lang="en-US" sz="1600" noProof="1"/>
          </a:p>
        </p:txBody>
      </p:sp>
      <p:sp>
        <p:nvSpPr>
          <p:cNvPr id="105" name="cn2-b"/>
          <p:cNvSpPr/>
          <p:nvPr/>
        </p:nvSpPr>
        <p:spPr>
          <a:xfrm>
            <a:off x="14198600" y="1778000"/>
            <a:ext cx="1905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06" name="cn2-t"/>
          <p:cNvSpPr txBox="1"/>
          <p:nvPr/>
        </p:nvSpPr>
        <p:spPr>
          <a:xfrm>
            <a:off x="14300200" y="1841500"/>
            <a:ext cx="170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Backcast &amp; Lookback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Lessons fed into the next cycle</a:t>
            </a:r>
            <a:endParaRPr lang="en-US" sz="1600" noProof="1"/>
          </a:p>
        </p:txBody>
      </p:sp>
      <p:sp>
        <p:nvSpPr>
          <p:cNvPr id="107" name="cn3-b"/>
          <p:cNvSpPr/>
          <p:nvPr/>
        </p:nvSpPr>
        <p:spPr>
          <a:xfrm>
            <a:off x="14198600" y="2590800"/>
            <a:ext cx="1905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C6"/>
            </a:solidFill>
          </a:ln>
        </p:spPr>
      </p:sp>
      <p:sp>
        <p:nvSpPr>
          <p:cNvPr id="108" name="cn3-t"/>
          <p:cNvSpPr txBox="1"/>
          <p:nvPr/>
        </p:nvSpPr>
        <p:spPr>
          <a:xfrm>
            <a:off x="14300200" y="2654300"/>
            <a:ext cx="170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CI Leadership Reviews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Recurring reporting &amp; decisions</a:t>
            </a:r>
            <a:endParaRPr lang="en-US" sz="1600" noProof="1"/>
          </a:p>
        </p:txBody>
      </p:sp>
      <p:sp>
        <p:nvSpPr>
          <p:cNvPr id="109" name="cn4-b"/>
          <p:cNvSpPr/>
          <p:nvPr/>
        </p:nvSpPr>
        <p:spPr>
          <a:xfrm>
            <a:off x="14198600" y="3403600"/>
            <a:ext cx="1905000" cy="711200"/>
          </a:xfrm>
          <a:prstGeom prst="rect">
            <a:avLst/>
          </a:prstGeom>
          <a:noFill/>
          <a:ln w="12700">
            <a:solidFill>
              <a:srgbClr val="D9A7B4"/>
            </a:solidFill>
            <a:prstDash val="dash"/>
          </a:ln>
        </p:spPr>
      </p:sp>
      <p:sp>
        <p:nvSpPr>
          <p:cNvPr id="110" name="cn4-t"/>
          <p:cNvSpPr txBox="1"/>
          <p:nvPr/>
        </p:nvSpPr>
        <p:spPr>
          <a:xfrm>
            <a:off x="14300200" y="3467100"/>
            <a:ext cx="170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2E3A45"/>
                </a:solidFill>
                <a:latin typeface="MiSans"/>
                <a:ea typeface="MiSans"/>
              </a:rPr>
              <a:t>Decision-Support Agents</a:t>
            </a:r>
            <a:r>
              <a:rPr lang="en-US" sz="650" noProof="1">
                <a:solidFill>
                  <a:srgbClr val="D9A7B4"/>
                </a:solidFill>
                <a:latin typeface="MiSans"/>
                <a:ea typeface="MiSans"/>
              </a:rPr>
              <a:t>  FUTURE PHASE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Proactive lesson surfacing · gap detection</a:t>
            </a:r>
            <a:endParaRPr lang="en-US" sz="1600" noProof="1"/>
          </a:p>
        </p:txBody>
      </p:sp>
      <p:sp>
        <p:nvSpPr>
          <p:cNvPr id="111" name="arr-cp"/>
          <p:cNvSpPr/>
          <p:nvPr>
            <p:extLst>
              <p:ext uri="{F5677B7D-0D2A-4D9B-9A5C-6D8D7D0E5A5D}">
                <pptd:line encoding="base64url">eyJ2aWV3Qm94IjpbMTQsOF0sInBvaW50cyI6IjAsNCAxNCw0IiwiY3VydmUiOiJzaGFycCJ9</pptd:line>
              </p:ext>
            </p:extLst>
          </p:nvPr>
        </p:nvSpPr>
        <p:spPr>
          <a:xfrm>
            <a:off x="9245600" y="3429000"/>
            <a:ext cx="177800" cy="101600"/>
          </a:xfrm>
          <a:custGeom>
            <a:avLst/>
            <a:gdLst/>
            <a:ahLst/>
            <a:cxnLst/>
            <a:rect l="l" t="t" r="r" b="b"/>
            <a:pathLst>
              <a:path w="14" h="8">
                <a:moveTo>
                  <a:pt x="0" y="4"/>
                </a:moveTo>
                <a:lnTo>
                  <a:pt x="14" y="4"/>
                </a:lnTo>
              </a:path>
            </a:pathLst>
          </a:custGeom>
          <a:noFill/>
          <a:ln w="31750">
            <a:solidFill>
              <a:srgbClr val="2E3A45"/>
            </a:solidFill>
            <a:tailEnd type="stealth"/>
          </a:ln>
        </p:spPr>
      </p:sp>
      <p:sp>
        <p:nvSpPr>
          <p:cNvPr id="112" name="arr-pa"/>
          <p:cNvSpPr/>
          <p:nvPr>
            <p:extLst>
              <p:ext uri="{F5677B7D-0D2A-4D9B-9A5C-6D8D7D0E5A5D}">
                <pptd:line encoding="base64url">eyJ2aWV3Qm94IjpbMTIsOF0sInBvaW50cyI6IjAsNCAxMiw0IiwiY3VydmUiOiJzaGFycCJ9</pptd:line>
              </p:ext>
            </p:extLst>
          </p:nvPr>
        </p:nvSpPr>
        <p:spPr>
          <a:xfrm>
            <a:off x="12522200" y="3429000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0" y="4"/>
                </a:moveTo>
                <a:lnTo>
                  <a:pt x="12" y="4"/>
                </a:lnTo>
              </a:path>
            </a:pathLst>
          </a:custGeom>
          <a:noFill/>
          <a:ln w="31750">
            <a:solidFill>
              <a:srgbClr val="2E3A45"/>
            </a:solidFill>
            <a:tailEnd type="stealth"/>
          </a:ln>
        </p:spPr>
      </p:sp>
      <p:sp>
        <p:nvSpPr>
          <p:cNvPr id="113" name="arr-ac"/>
          <p:cNvSpPr/>
          <p:nvPr>
            <p:extLst>
              <p:ext uri="{F5677B7D-0D2A-4D9B-9A5C-6D8D7D0E5A5D}">
                <pptd:line encoding="base64url">eyJ2aWV3Qm94IjpbMTIsOF0sInBvaW50cyI6IjAsNCAxMiw0IiwiY3VydmUiOiJzaGFycCJ9</pptd:line>
              </p:ext>
            </p:extLst>
          </p:nvPr>
        </p:nvSpPr>
        <p:spPr>
          <a:xfrm>
            <a:off x="14046200" y="3429000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0" y="4"/>
                </a:moveTo>
                <a:lnTo>
                  <a:pt x="12" y="4"/>
                </a:lnTo>
              </a:path>
            </a:pathLst>
          </a:custGeom>
          <a:noFill/>
          <a:ln w="31750">
            <a:solidFill>
              <a:srgbClr val="2E3A45"/>
            </a:solidFill>
            <a:tailEnd type="stealth"/>
          </a:ln>
        </p:spPr>
      </p:sp>
      <p:sp>
        <p:nvSpPr>
          <p:cNvPr id="114" name="feedback-line"/>
          <p:cNvSpPr/>
          <p:nvPr>
            <p:extLst>
              <p:ext uri="{F5677B7D-0D2A-4D9B-9A5C-6D8D7D0E5A5D}">
                <pptd:line encoding="base64url">eyJ2aWV3Qm94IjpbNDkwLDE3NF0sInBvaW50cyI6IjQ5MCwwIDQ5MCwxNzQgMCwxNzQgMCwxMCIsImN1cnZlIjoic2hhcnAifQ</pptd:line>
              </p:ext>
            </p:extLst>
          </p:nvPr>
        </p:nvSpPr>
        <p:spPr>
          <a:xfrm>
            <a:off x="7112000" y="4673600"/>
            <a:ext cx="6223000" cy="2209800"/>
          </a:xfrm>
          <a:custGeom>
            <a:avLst/>
            <a:gdLst/>
            <a:ahLst/>
            <a:cxnLst/>
            <a:rect l="l" t="t" r="r" b="b"/>
            <a:pathLst>
              <a:path w="490" h="174">
                <a:moveTo>
                  <a:pt x="490" y="0"/>
                </a:moveTo>
                <a:lnTo>
                  <a:pt x="490" y="174"/>
                </a:lnTo>
                <a:lnTo>
                  <a:pt x="0" y="174"/>
                </a:lnTo>
                <a:lnTo>
                  <a:pt x="0" y="10"/>
                </a:lnTo>
              </a:path>
            </a:pathLst>
          </a:custGeom>
          <a:noFill/>
          <a:ln w="15240">
            <a:solidFill>
              <a:srgbClr val="8C9390"/>
            </a:solidFill>
            <a:prstDash val="dash"/>
            <a:tailEnd type="arrow"/>
          </a:ln>
        </p:spPr>
      </p:sp>
      <p:sp>
        <p:nvSpPr>
          <p:cNvPr id="115" name="feedback-label"/>
          <p:cNvSpPr txBox="1"/>
          <p:nvPr/>
        </p:nvSpPr>
        <p:spPr>
          <a:xfrm>
            <a:off x="7874000" y="6731000"/>
            <a:ext cx="482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8C9390"/>
                </a:solidFill>
                <a:latin typeface="MiSans"/>
                <a:ea typeface="MiSans"/>
              </a:rPr>
              <a:t>feedback — usefulness ratings · SME corrections · gap signals → re-curation</a:t>
            </a:r>
            <a:endParaRPr lang="en-US" sz="750" noProof="1"/>
          </a:p>
        </p:txBody>
      </p:sp>
      <p:sp>
        <p:nvSpPr>
          <p:cNvPr id="116" name="band-panel"/>
          <p:cNvSpPr/>
          <p:nvPr/>
        </p:nvSpPr>
        <p:spPr>
          <a:xfrm>
            <a:off x="152400" y="7061200"/>
            <a:ext cx="15951200" cy="965200"/>
          </a:xfrm>
          <a:prstGeom prst="rect">
            <a:avLst/>
          </a:prstGeom>
          <a:solidFill>
            <a:srgbClr val="F9E8EC"/>
          </a:solidFill>
          <a:ln w="12700">
            <a:solidFill>
              <a:srgbClr val="D9A7B4"/>
            </a:solidFill>
          </a:ln>
        </p:spPr>
      </p:sp>
      <p:sp>
        <p:nvSpPr>
          <p:cNvPr id="117" name="c5-circle"/>
          <p:cNvSpPr/>
          <p:nvPr/>
        </p:nvSpPr>
        <p:spPr>
          <a:xfrm>
            <a:off x="228600" y="7137400"/>
            <a:ext cx="228600" cy="228600"/>
          </a:xfrm>
          <a:prstGeom prst="ellipse">
            <a:avLst/>
          </a:prstGeom>
          <a:solidFill>
            <a:srgbClr val="2E3A45"/>
          </a:solidFill>
          <a:ln>
            <a:noFill/>
          </a:ln>
        </p:spPr>
      </p:sp>
      <p:sp>
        <p:nvSpPr>
          <p:cNvPr id="118" name="c5-num"/>
          <p:cNvSpPr txBox="1"/>
          <p:nvPr/>
        </p:nvSpPr>
        <p:spPr>
          <a:xfrm>
            <a:off x="228600" y="7137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FFFFFF"/>
                </a:solidFill>
                <a:latin typeface="MiSans"/>
                <a:ea typeface="MiSans"/>
              </a:rPr>
              <a:t>5</a:t>
            </a:r>
            <a:endParaRPr lang="en-US" sz="950" noProof="1"/>
          </a:p>
        </p:txBody>
      </p:sp>
      <p:sp>
        <p:nvSpPr>
          <p:cNvPr id="119" name="band-header"/>
          <p:cNvSpPr txBox="1"/>
          <p:nvPr/>
        </p:nvSpPr>
        <p:spPr>
          <a:xfrm>
            <a:off x="558800" y="7162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2E3A45"/>
                </a:solidFill>
                <a:latin typeface="MiSans"/>
                <a:ea typeface="MiSans"/>
              </a:rPr>
              <a:t>Common Platform Services — built once, applied across every stage</a:t>
            </a:r>
            <a:endParaRPr lang="en-US" sz="950" noProof="1"/>
          </a:p>
        </p:txBody>
      </p:sp>
      <p:sp>
        <p:nvSpPr>
          <p:cNvPr id="120" name="bs1-b"/>
          <p:cNvSpPr/>
          <p:nvPr/>
        </p:nvSpPr>
        <p:spPr>
          <a:xfrm>
            <a:off x="6096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21" name="bs1-t"/>
          <p:cNvSpPr txBox="1"/>
          <p:nvPr/>
        </p:nvSpPr>
        <p:spPr>
          <a:xfrm>
            <a:off x="7112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Governance &amp; Lifecycle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States · refresh triggers · archival · escalation</a:t>
            </a:r>
            <a:endParaRPr lang="en-US" sz="1600" noProof="1"/>
          </a:p>
        </p:txBody>
      </p:sp>
      <p:sp>
        <p:nvSpPr>
          <p:cNvPr id="122" name="bs2-b"/>
          <p:cNvSpPr/>
          <p:nvPr/>
        </p:nvSpPr>
        <p:spPr>
          <a:xfrm>
            <a:off x="31750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23" name="bs2-t"/>
          <p:cNvSpPr txBox="1"/>
          <p:nvPr/>
        </p:nvSpPr>
        <p:spPr>
          <a:xfrm>
            <a:off x="32766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Quality-Tier &amp; Confidence Model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Authoritative vs. indicative sources</a:t>
            </a:r>
            <a:endParaRPr lang="en-US" sz="1600" noProof="1"/>
          </a:p>
        </p:txBody>
      </p:sp>
      <p:sp>
        <p:nvSpPr>
          <p:cNvPr id="124" name="bs3-b"/>
          <p:cNvSpPr/>
          <p:nvPr/>
        </p:nvSpPr>
        <p:spPr>
          <a:xfrm>
            <a:off x="57404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25" name="bs3-t"/>
          <p:cNvSpPr txBox="1"/>
          <p:nvPr/>
        </p:nvSpPr>
        <p:spPr>
          <a:xfrm>
            <a:off x="58420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Access Control &amp; Sensitivity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Market-sensitive content handling</a:t>
            </a:r>
            <a:endParaRPr lang="en-US" sz="1600" noProof="1"/>
          </a:p>
        </p:txBody>
      </p:sp>
      <p:sp>
        <p:nvSpPr>
          <p:cNvPr id="126" name="bs4-b"/>
          <p:cNvSpPr/>
          <p:nvPr/>
        </p:nvSpPr>
        <p:spPr>
          <a:xfrm>
            <a:off x="83058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27" name="bs4-t"/>
          <p:cNvSpPr txBox="1"/>
          <p:nvPr/>
        </p:nvSpPr>
        <p:spPr>
          <a:xfrm>
            <a:off x="84074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Audit &amp; Versioning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Full lineage &amp; change history</a:t>
            </a:r>
            <a:endParaRPr lang="en-US" sz="1600" noProof="1"/>
          </a:p>
        </p:txBody>
      </p:sp>
      <p:sp>
        <p:nvSpPr>
          <p:cNvPr id="128" name="bs5-b"/>
          <p:cNvSpPr/>
          <p:nvPr/>
        </p:nvSpPr>
        <p:spPr>
          <a:xfrm>
            <a:off x="108712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29" name="bs5-t"/>
          <p:cNvSpPr txBox="1"/>
          <p:nvPr/>
        </p:nvSpPr>
        <p:spPr>
          <a:xfrm>
            <a:off x="109728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Continuous Improvement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SME corrections → prompts &amp; models</a:t>
            </a:r>
            <a:endParaRPr lang="en-US" sz="1600" noProof="1"/>
          </a:p>
        </p:txBody>
      </p:sp>
      <p:sp>
        <p:nvSpPr>
          <p:cNvPr id="130" name="bs6-b"/>
          <p:cNvSpPr/>
          <p:nvPr/>
        </p:nvSpPr>
        <p:spPr>
          <a:xfrm>
            <a:off x="13436600" y="7442200"/>
            <a:ext cx="2438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A7B4"/>
            </a:solidFill>
          </a:ln>
        </p:spPr>
      </p:sp>
      <p:sp>
        <p:nvSpPr>
          <p:cNvPr id="131" name="bs6-t"/>
          <p:cNvSpPr txBox="1"/>
          <p:nvPr/>
        </p:nvSpPr>
        <p:spPr>
          <a:xfrm>
            <a:off x="13538200" y="7493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2E3A45"/>
                </a:solidFill>
                <a:latin typeface="MiSans"/>
                <a:ea typeface="MiSans"/>
              </a:rPr>
              <a:t>Monitoring &amp; Ops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650" noProof="1">
                <a:solidFill>
                  <a:srgbClr val="8C9390"/>
                </a:solidFill>
                <a:latin typeface="MiSans"/>
                <a:ea typeface="MiSans"/>
              </a:rPr>
              <a:t>Pipeline health &amp; ingestion status</a:t>
            </a:r>
            <a:endParaRPr lang="en-US" sz="16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</Slides>
</Properties>
</file>

<file path=docProps/core.xml><?xml version="1.0" encoding="utf-8"?>
<cp:coreProperties xmlns:dc="http://purl.org/dc/elements/1.1/" xmlns:cp="http://schemas.openxmlformats.org/package/2006/metadata/core-properties">
  <dc:title>CI KM — End-to-End Solution Architecture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