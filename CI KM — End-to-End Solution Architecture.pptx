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 saveSubsetFonts="1">
  <p:sldMasterIdLst>
    <p:sldMasterId id="2147483648" r:id="rId1"/>
  </p:sldMasterIdLst>
  <p:sldIdLst>
    <p:sldId id="256" r:id="rId3"/>
  </p:sldIdLst>
  <p:notesMasterIdLst>
    <p:notesMasterId r:id="rId5"/>
  </p:notesMasterIdLst>
  <p:sldSz cx="16256000" cy="8128000" type="custom"/>
  <p:notesSz cx="16256000" cy="8128000"/>
  <p:embeddedFontLst>
    <p:embeddedFont>
      <p:font typeface="MiSans" charset="-122" pitchFamily="34"/>
      <p:regular r:id="rId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font" Target="fonts/font1.fntdata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End-to-end solution architecture for the CI KM capability, in the reference consulting format. Left: real CI knowledge sources from the inventory (Backcast Report SharePoint, regional SharePoints, email chains, MS Teams, OneNote, Planning DB/PIR, Value Opportunity Trackers) with callout 1 automated capture. Feeds column: Graph API connectors, batch crawl, event triggers, manual SME upload. Central zone: ingestion microservices, landing (immutable raw store, event log, lineage), traditional AI/ML (OCR, speech-to-text with diarization, classification, dedup, table extraction), LLM curation as pink overlay callout 2 (template extraction, taxonomy tagging, summarization, entity/relationship extraction, draft confidence scoring, embedding and chunking), SME review queue as human gate callout 4, extraction quality monitoring. Platform zone with banner callout 3: knowledge graph + Profisee metadata as single source of truth; repository, vector + keyword indexes, hybrid retrieval, quality and confidence layer, persistent source links. Access column: faceted search, Q&amp;A assistant with citations and confidence badges, APIs/MCP, subscriptions, usage feedback capture. Consumers: planning and scheduling, backcast and lookback, CI leadership reviews, and dashed future-phase decision-support agents. Dashed feedback loop returns usage signals and SME corrections to curation. Bottom band callout 5: common platform services — governance and lifecycle, quality-tier model, access control and sensitivity, audit and versioning, continuous improvement, monitoring.</a:t>
            </a:r>
          </a:p>
          <a:p>
            <a:r>
              <a:rPr lang="en-US" sz="1200" noProof="1"/>
              <a:t/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52400" y="1270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2E3A45"/>
                </a:solidFill>
                <a:latin typeface="MiSans"/>
                <a:ea typeface="MiSans"/>
              </a:rPr>
              <a:t>CI Knowledge Management — End-to-End Solution Architecture</a:t>
            </a:r>
            <a:endParaRPr lang="en-US" sz="1700" noProof="1"/>
          </a:p>
        </p:txBody>
      </p:sp>
      <p:sp>
        <p:nvSpPr>
          <p:cNvPr id="3" name="subtitle"/>
          <p:cNvSpPr txBox="1"/>
          <p:nvPr/>
        </p:nvSpPr>
        <p:spPr>
          <a:xfrm>
            <a:off x="152400" y="469900"/>
            <a:ext cx="6858000" cy="165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00" noProof="1">
                <a:solidFill>
                  <a:srgbClr val="8C9390"/>
                </a:solidFill>
                <a:latin typeface="MiSans"/>
                <a:ea typeface="MiSans"/>
              </a:rPr>
              <a:t>AI proposes, humans approve — scattered CI artifacts become governed, searchable, decision-ready knowledge</a:t>
            </a:r>
            <a:endParaRPr lang="en-US" sz="900" noProof="1"/>
          </a:p>
        </p:txBody>
      </p:sp>
      <p:sp>
        <p:nvSpPr>
          <p:cNvPr id="4" name="banner3-box"/>
          <p:cNvSpPr/>
          <p:nvPr/>
        </p:nvSpPr>
        <p:spPr>
          <a:xfrm>
            <a:off x="7112000" y="152400"/>
            <a:ext cx="8991600" cy="4826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5" name="banner3-text"/>
          <p:cNvSpPr txBox="1"/>
          <p:nvPr/>
        </p:nvSpPr>
        <p:spPr>
          <a:xfrm>
            <a:off x="7518400" y="203200"/>
            <a:ext cx="84836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5000"/>
              </a:lnSpc>
            </a:pPr>
            <a:r>
              <a:rPr lang="en-US" sz="850" noProof="1" b="1">
                <a:solidFill>
                  <a:srgbClr val="2E3A45"/>
                </a:solidFill>
                <a:latin typeface="MiSans"/>
                <a:ea typeface="MiSans"/>
              </a:rPr>
              <a:t>Implement a Knowledge Graph + Profisee metadata as the governed "single source of truth"</a:t>
            </a:r>
            <a:r>
              <a:rPr lang="en-US" sz="850" noProof="1">
                <a:solidFill>
                  <a:srgbClr val="47525C"/>
                </a:solidFill>
                <a:latin typeface="MiSans"/>
                <a:ea typeface="MiSans"/>
              </a:rPr>
              <a:t> — connecting decisions ↔ lessons ↔ outcomes ↔ assets ↔ SMEs, so "have we seen this before?" is answerable</a:t>
            </a:r>
            <a:endParaRPr lang="en-US" sz="1600" noProof="1"/>
          </a:p>
        </p:txBody>
      </p:sp>
      <p:sp>
        <p:nvSpPr>
          <p:cNvPr id="6" name="c3-circle"/>
          <p:cNvSpPr/>
          <p:nvPr/>
        </p:nvSpPr>
        <p:spPr>
          <a:xfrm>
            <a:off x="7213600" y="279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" name="c3-num"/>
          <p:cNvSpPr txBox="1"/>
          <p:nvPr/>
        </p:nvSpPr>
        <p:spPr>
          <a:xfrm>
            <a:off x="7213600" y="279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lang="en-US" sz="950" noProof="1"/>
          </a:p>
        </p:txBody>
      </p:sp>
      <p:sp>
        <p:nvSpPr>
          <p:cNvPr id="8" name="zh-sources"/>
          <p:cNvSpPr txBox="1"/>
          <p:nvPr/>
        </p:nvSpPr>
        <p:spPr>
          <a:xfrm>
            <a:off x="1524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CI Knowledge Sources</a:t>
            </a:r>
            <a:endParaRPr lang="en-US" sz="1050" noProof="1"/>
          </a:p>
        </p:txBody>
      </p:sp>
      <p:sp>
        <p:nvSpPr>
          <p:cNvPr id="9" name="zh-feeds"/>
          <p:cNvSpPr txBox="1"/>
          <p:nvPr/>
        </p:nvSpPr>
        <p:spPr>
          <a:xfrm>
            <a:off x="2184400" y="685800"/>
            <a:ext cx="812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Feeds</a:t>
            </a:r>
            <a:endParaRPr lang="en-US" sz="1050" noProof="1"/>
          </a:p>
        </p:txBody>
      </p:sp>
      <p:sp>
        <p:nvSpPr>
          <p:cNvPr id="10" name="zh-ingest"/>
          <p:cNvSpPr txBox="1"/>
          <p:nvPr/>
        </p:nvSpPr>
        <p:spPr>
          <a:xfrm>
            <a:off x="3098800" y="685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Ingestion &amp; AI Processing</a:t>
            </a:r>
            <a:endParaRPr lang="en-US" sz="1050" noProof="1"/>
          </a:p>
        </p:txBody>
      </p:sp>
      <p:sp>
        <p:nvSpPr>
          <p:cNvPr id="11" name="zh-platform"/>
          <p:cNvSpPr txBox="1"/>
          <p:nvPr/>
        </p:nvSpPr>
        <p:spPr>
          <a:xfrm>
            <a:off x="9372600" y="685800"/>
            <a:ext cx="3149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Governed Knowledge Platform</a:t>
            </a:r>
            <a:endParaRPr lang="en-US" sz="1050" noProof="1"/>
          </a:p>
        </p:txBody>
      </p:sp>
      <p:sp>
        <p:nvSpPr>
          <p:cNvPr id="12" name="zh-access"/>
          <p:cNvSpPr txBox="1"/>
          <p:nvPr/>
        </p:nvSpPr>
        <p:spPr>
          <a:xfrm>
            <a:off x="12674600" y="685800"/>
            <a:ext cx="1371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Access &amp; Delivery</a:t>
            </a:r>
            <a:endParaRPr lang="en-US" sz="1050" noProof="1"/>
          </a:p>
        </p:txBody>
      </p:sp>
      <p:sp>
        <p:nvSpPr>
          <p:cNvPr id="13" name="zh-consumers"/>
          <p:cNvSpPr txBox="1"/>
          <p:nvPr/>
        </p:nvSpPr>
        <p:spPr>
          <a:xfrm>
            <a:off x="141986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Consumers</a:t>
            </a:r>
            <a:endParaRPr lang="en-US" sz="1050" noProof="1"/>
          </a:p>
        </p:txBody>
      </p:sp>
      <p:sp>
        <p:nvSpPr>
          <p:cNvPr id="14" name="src1-b"/>
          <p:cNvSpPr/>
          <p:nvPr/>
        </p:nvSpPr>
        <p:spPr>
          <a:xfrm>
            <a:off x="152400" y="965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5" name="src1-t"/>
          <p:cNvSpPr txBox="1"/>
          <p:nvPr/>
        </p:nvSpPr>
        <p:spPr>
          <a:xfrm>
            <a:off x="254000" y="1041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Backcast Report SharePoint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DPO &amp; LP backcast decks (PDF / PPT)</a:t>
            </a:r>
            <a:endParaRPr lang="en-US" sz="1600" noProof="1"/>
          </a:p>
        </p:txBody>
      </p:sp>
      <p:sp>
        <p:nvSpPr>
          <p:cNvPr id="16" name="src2-b"/>
          <p:cNvSpPr/>
          <p:nvPr/>
        </p:nvSpPr>
        <p:spPr>
          <a:xfrm>
            <a:off x="152400" y="1701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7" name="src2-t"/>
          <p:cNvSpPr txBox="1"/>
          <p:nvPr/>
        </p:nvSpPr>
        <p:spPr>
          <a:xfrm>
            <a:off x="254000" y="1778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Regional SharePoints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Value Optimization · Specialty Blending sites</a:t>
            </a:r>
            <a:endParaRPr lang="en-US" sz="1600" noProof="1"/>
          </a:p>
        </p:txBody>
      </p:sp>
      <p:sp>
        <p:nvSpPr>
          <p:cNvPr id="18" name="src3-b"/>
          <p:cNvSpPr/>
          <p:nvPr/>
        </p:nvSpPr>
        <p:spPr>
          <a:xfrm>
            <a:off x="152400" y="24384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9" name="src3-t"/>
          <p:cNvSpPr txBox="1"/>
          <p:nvPr/>
        </p:nvSpPr>
        <p:spPr>
          <a:xfrm>
            <a:off x="254000" y="25146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Email Chains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Optimization &amp; Forecast Review</a:t>
            </a:r>
            <a:endParaRPr lang="en-US" sz="1600" noProof="1"/>
          </a:p>
        </p:txBody>
      </p:sp>
      <p:sp>
        <p:nvSpPr>
          <p:cNvPr id="20" name="src4-b"/>
          <p:cNvSpPr/>
          <p:nvPr/>
        </p:nvSpPr>
        <p:spPr>
          <a:xfrm>
            <a:off x="152400" y="31750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1" name="src4-t"/>
          <p:cNvSpPr txBox="1"/>
          <p:nvPr/>
        </p:nvSpPr>
        <p:spPr>
          <a:xfrm>
            <a:off x="254000" y="32512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MS Teams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Meeting recordings &amp; transcripts</a:t>
            </a:r>
            <a:endParaRPr lang="en-US" sz="1600" noProof="1"/>
          </a:p>
        </p:txBody>
      </p:sp>
      <p:sp>
        <p:nvSpPr>
          <p:cNvPr id="22" name="src5-b"/>
          <p:cNvSpPr/>
          <p:nvPr/>
        </p:nvSpPr>
        <p:spPr>
          <a:xfrm>
            <a:off x="152400" y="39116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3" name="src5-t"/>
          <p:cNvSpPr txBox="1"/>
          <p:nvPr/>
        </p:nvSpPr>
        <p:spPr>
          <a:xfrm>
            <a:off x="254000" y="39878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OneNote &amp; Working Notes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Informal SME knowledge</a:t>
            </a:r>
            <a:endParaRPr lang="en-US" sz="1600" noProof="1"/>
          </a:p>
        </p:txBody>
      </p:sp>
      <p:sp>
        <p:nvSpPr>
          <p:cNvPr id="24" name="src6-b"/>
          <p:cNvSpPr/>
          <p:nvPr/>
        </p:nvSpPr>
        <p:spPr>
          <a:xfrm>
            <a:off x="152400" y="4648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5" name="src6-t"/>
          <p:cNvSpPr txBox="1"/>
          <p:nvPr/>
        </p:nvSpPr>
        <p:spPr>
          <a:xfrm>
            <a:off x="254000" y="4724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Planning DB / PIR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Structured CI data &amp; LPO reports</a:t>
            </a:r>
            <a:endParaRPr lang="en-US" sz="1600" noProof="1"/>
          </a:p>
        </p:txBody>
      </p:sp>
      <p:sp>
        <p:nvSpPr>
          <p:cNvPr id="26" name="src7-b"/>
          <p:cNvSpPr/>
          <p:nvPr/>
        </p:nvSpPr>
        <p:spPr>
          <a:xfrm>
            <a:off x="152400" y="5384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7" name="src7-t"/>
          <p:cNvSpPr txBox="1"/>
          <p:nvPr/>
        </p:nvSpPr>
        <p:spPr>
          <a:xfrm>
            <a:off x="254000" y="5461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Value Opportunity Trackers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SharePoint List / Excel</a:t>
            </a:r>
            <a:endParaRPr lang="en-US" sz="1600" noProof="1"/>
          </a:p>
        </p:txBody>
      </p:sp>
      <p:sp>
        <p:nvSpPr>
          <p:cNvPr id="28" name="c1-box"/>
          <p:cNvSpPr/>
          <p:nvPr/>
        </p:nvSpPr>
        <p:spPr>
          <a:xfrm>
            <a:off x="152400" y="6223000"/>
            <a:ext cx="1905000" cy="5080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29" name="c1-text"/>
          <p:cNvSpPr txBox="1"/>
          <p:nvPr/>
        </p:nvSpPr>
        <p:spPr>
          <a:xfrm>
            <a:off x="533400" y="6273800"/>
            <a:ext cx="14986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Automated capture</a:t>
            </a: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 — zero new manual burden for CI teams</a:t>
            </a:r>
            <a:endParaRPr lang="en-US" sz="1600" noProof="1"/>
          </a:p>
        </p:txBody>
      </p:sp>
      <p:sp>
        <p:nvSpPr>
          <p:cNvPr id="30" name="c1-circle"/>
          <p:cNvSpPr/>
          <p:nvPr/>
        </p:nvSpPr>
        <p:spPr>
          <a:xfrm>
            <a:off x="228600" y="6350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31" name="c1-num"/>
          <p:cNvSpPr txBox="1"/>
          <p:nvPr/>
        </p:nvSpPr>
        <p:spPr>
          <a:xfrm>
            <a:off x="228600" y="6350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lang="en-US" sz="950" noProof="1"/>
          </a:p>
        </p:txBody>
      </p:sp>
      <p:sp>
        <p:nvSpPr>
          <p:cNvPr id="32" name="feed1-b"/>
          <p:cNvSpPr/>
          <p:nvPr/>
        </p:nvSpPr>
        <p:spPr>
          <a:xfrm>
            <a:off x="2184400" y="9652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3" name="feed1-t"/>
          <p:cNvSpPr txBox="1"/>
          <p:nvPr/>
        </p:nvSpPr>
        <p:spPr>
          <a:xfrm>
            <a:off x="2222500" y="10033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Graph API connectors</a:t>
            </a:r>
            <a:endParaRPr lang="en-US" sz="700" noProof="1"/>
          </a:p>
        </p:txBody>
      </p:sp>
      <p:sp>
        <p:nvSpPr>
          <p:cNvPr id="34" name="feed2-b"/>
          <p:cNvSpPr/>
          <p:nvPr/>
        </p:nvSpPr>
        <p:spPr>
          <a:xfrm>
            <a:off x="2184400" y="16764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5" name="feed2-t"/>
          <p:cNvSpPr txBox="1"/>
          <p:nvPr/>
        </p:nvSpPr>
        <p:spPr>
          <a:xfrm>
            <a:off x="2222500" y="17145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Scheduled batch crawl</a:t>
            </a:r>
            <a:endParaRPr lang="en-US" sz="700" noProof="1"/>
          </a:p>
        </p:txBody>
      </p:sp>
      <p:sp>
        <p:nvSpPr>
          <p:cNvPr id="36" name="feed3-b"/>
          <p:cNvSpPr/>
          <p:nvPr/>
        </p:nvSpPr>
        <p:spPr>
          <a:xfrm>
            <a:off x="2184400" y="23876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7" name="feed3-t"/>
          <p:cNvSpPr txBox="1"/>
          <p:nvPr/>
        </p:nvSpPr>
        <p:spPr>
          <a:xfrm>
            <a:off x="2222500" y="24257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Event triggers (new file posted)</a:t>
            </a:r>
            <a:endParaRPr lang="en-US" sz="700" noProof="1"/>
          </a:p>
        </p:txBody>
      </p:sp>
      <p:sp>
        <p:nvSpPr>
          <p:cNvPr id="38" name="feed4-b"/>
          <p:cNvSpPr/>
          <p:nvPr/>
        </p:nvSpPr>
        <p:spPr>
          <a:xfrm>
            <a:off x="2184400" y="30988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9" name="feed4-t"/>
          <p:cNvSpPr txBox="1"/>
          <p:nvPr/>
        </p:nvSpPr>
        <p:spPr>
          <a:xfrm>
            <a:off x="2222500" y="31369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Manual SME upload</a:t>
            </a:r>
            <a:endParaRPr lang="en-US" sz="700" noProof="1"/>
          </a:p>
        </p:txBody>
      </p:sp>
      <p:sp>
        <p:nvSpPr>
          <p:cNvPr id="40" name="arr-sf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20701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1" name="arr-fc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30099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2" name="central-panel"/>
          <p:cNvSpPr/>
          <p:nvPr/>
        </p:nvSpPr>
        <p:spPr>
          <a:xfrm>
            <a:off x="3098800" y="914400"/>
            <a:ext cx="6197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43" name="lbl-ingestion"/>
          <p:cNvSpPr txBox="1"/>
          <p:nvPr/>
        </p:nvSpPr>
        <p:spPr>
          <a:xfrm>
            <a:off x="32004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Ingestion</a:t>
            </a:r>
            <a:endParaRPr lang="en-US" sz="800" noProof="1"/>
          </a:p>
        </p:txBody>
      </p:sp>
      <p:sp>
        <p:nvSpPr>
          <p:cNvPr id="44" name="lbl-landing"/>
          <p:cNvSpPr txBox="1"/>
          <p:nvPr/>
        </p:nvSpPr>
        <p:spPr>
          <a:xfrm>
            <a:off x="41402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Landing</a:t>
            </a:r>
            <a:endParaRPr lang="en-US" sz="800" noProof="1"/>
          </a:p>
        </p:txBody>
      </p:sp>
      <p:sp>
        <p:nvSpPr>
          <p:cNvPr id="45" name="lbl-processing"/>
          <p:cNvSpPr txBox="1"/>
          <p:nvPr/>
        </p:nvSpPr>
        <p:spPr>
          <a:xfrm>
            <a:off x="5130800" y="990600"/>
            <a:ext cx="406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Processing — AI-assisted curation</a:t>
            </a:r>
            <a:endParaRPr lang="en-US" sz="800" noProof="1"/>
          </a:p>
        </p:txBody>
      </p:sp>
      <p:sp>
        <p:nvSpPr>
          <p:cNvPr id="46" name="ing1-b"/>
          <p:cNvSpPr/>
          <p:nvPr/>
        </p:nvSpPr>
        <p:spPr>
          <a:xfrm>
            <a:off x="32004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7" name="ing1-t"/>
          <p:cNvSpPr txBox="1"/>
          <p:nvPr/>
        </p:nvSpPr>
        <p:spPr>
          <a:xfrm>
            <a:off x="32385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microservices</a:t>
            </a:r>
            <a:endParaRPr lang="en-US" sz="700" noProof="1"/>
          </a:p>
        </p:txBody>
      </p:sp>
      <p:sp>
        <p:nvSpPr>
          <p:cNvPr id="48" name="ing2-b"/>
          <p:cNvSpPr/>
          <p:nvPr/>
        </p:nvSpPr>
        <p:spPr>
          <a:xfrm>
            <a:off x="32004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9" name="ing2-t"/>
          <p:cNvSpPr txBox="1"/>
          <p:nvPr/>
        </p:nvSpPr>
        <p:spPr>
          <a:xfrm>
            <a:off x="32385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Connector framework — push / pull</a:t>
            </a:r>
            <a:endParaRPr lang="en-US" sz="700" noProof="1"/>
          </a:p>
        </p:txBody>
      </p:sp>
      <p:sp>
        <p:nvSpPr>
          <p:cNvPr id="50" name="ing3-b"/>
          <p:cNvSpPr/>
          <p:nvPr/>
        </p:nvSpPr>
        <p:spPr>
          <a:xfrm>
            <a:off x="32004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1" name="ing3-t"/>
          <p:cNvSpPr txBox="1"/>
          <p:nvPr/>
        </p:nvSpPr>
        <p:spPr>
          <a:xfrm>
            <a:off x="32385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Format normalization</a:t>
            </a:r>
            <a:endParaRPr lang="en-US" sz="700" noProof="1"/>
          </a:p>
        </p:txBody>
      </p:sp>
      <p:sp>
        <p:nvSpPr>
          <p:cNvPr id="52" name="ing4-b"/>
          <p:cNvSpPr/>
          <p:nvPr/>
        </p:nvSpPr>
        <p:spPr>
          <a:xfrm>
            <a:off x="3200400" y="35814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3" name="ing4-t"/>
          <p:cNvSpPr txBox="1"/>
          <p:nvPr/>
        </p:nvSpPr>
        <p:spPr>
          <a:xfrm>
            <a:off x="3238500" y="36195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Sensitive-content flagging</a:t>
            </a:r>
            <a:endParaRPr lang="en-US" sz="700" noProof="1"/>
          </a:p>
        </p:txBody>
      </p:sp>
      <p:sp>
        <p:nvSpPr>
          <p:cNvPr id="54" name="lan1-b"/>
          <p:cNvSpPr/>
          <p:nvPr/>
        </p:nvSpPr>
        <p:spPr>
          <a:xfrm>
            <a:off x="41402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5" name="lan1-t"/>
          <p:cNvSpPr txBox="1"/>
          <p:nvPr/>
        </p:nvSpPr>
        <p:spPr>
          <a:xfrm>
            <a:off x="41783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Immutable raw store</a:t>
            </a:r>
            <a:endParaRPr lang="en-US" sz="700" noProof="1"/>
          </a:p>
        </p:txBody>
      </p:sp>
      <p:sp>
        <p:nvSpPr>
          <p:cNvPr id="56" name="lan2-b"/>
          <p:cNvSpPr/>
          <p:nvPr/>
        </p:nvSpPr>
        <p:spPr>
          <a:xfrm>
            <a:off x="41402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7" name="lan2-t"/>
          <p:cNvSpPr txBox="1"/>
          <p:nvPr/>
        </p:nvSpPr>
        <p:spPr>
          <a:xfrm>
            <a:off x="41783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event log</a:t>
            </a:r>
            <a:endParaRPr lang="en-US" sz="700" noProof="1"/>
          </a:p>
        </p:txBody>
      </p:sp>
      <p:sp>
        <p:nvSpPr>
          <p:cNvPr id="58" name="lan3-b"/>
          <p:cNvSpPr/>
          <p:nvPr/>
        </p:nvSpPr>
        <p:spPr>
          <a:xfrm>
            <a:off x="41402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9" name="lan3-t"/>
          <p:cNvSpPr txBox="1"/>
          <p:nvPr/>
        </p:nvSpPr>
        <p:spPr>
          <a:xfrm>
            <a:off x="41783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Source lineage pointers</a:t>
            </a:r>
            <a:endParaRPr lang="en-US" sz="700" noProof="1"/>
          </a:p>
        </p:txBody>
      </p:sp>
      <p:sp>
        <p:nvSpPr>
          <p:cNvPr id="60" name="princ-b"/>
          <p:cNvSpPr/>
          <p:nvPr/>
        </p:nvSpPr>
        <p:spPr>
          <a:xfrm>
            <a:off x="3200400" y="4470400"/>
            <a:ext cx="1778000" cy="11684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61" name="princ-t"/>
          <p:cNvSpPr txBox="1"/>
          <p:nvPr/>
        </p:nvSpPr>
        <p:spPr>
          <a:xfrm>
            <a:off x="3276600" y="4546600"/>
            <a:ext cx="1625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INGESTION PRINCIPLES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Originals immutable · lineage on every asset · sensitivity flagged at capture · no content altered before curation</a:t>
            </a:r>
            <a:endParaRPr lang="en-US" sz="1600" noProof="1"/>
          </a:p>
        </p:txBody>
      </p:sp>
      <p:sp>
        <p:nvSpPr>
          <p:cNvPr id="62" name="tai-b"/>
          <p:cNvSpPr/>
          <p:nvPr/>
        </p:nvSpPr>
        <p:spPr>
          <a:xfrm>
            <a:off x="5130800" y="1219200"/>
            <a:ext cx="1905000" cy="238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63" name="tai-t"/>
          <p:cNvSpPr txBox="1"/>
          <p:nvPr/>
        </p:nvSpPr>
        <p:spPr>
          <a:xfrm>
            <a:off x="5207000" y="1295400"/>
            <a:ext cx="1752600" cy="223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TRADITIONAL AI / ML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OCR &amp; layout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Speech-to-text + speaker diarization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Document classification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Dedup / near-duplicate detection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Table extraction (Excel / PDF)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Deterministic, high-volume digitization of PDFs, decks, recordings &amp; notes</a:t>
            </a:r>
            <a:endParaRPr lang="en-US" sz="1600" noProof="1"/>
          </a:p>
        </p:txBody>
      </p:sp>
      <p:sp>
        <p:nvSpPr>
          <p:cNvPr id="64" name="llm-b"/>
          <p:cNvSpPr/>
          <p:nvPr/>
        </p:nvSpPr>
        <p:spPr>
          <a:xfrm>
            <a:off x="7137400" y="1219200"/>
            <a:ext cx="2057400" cy="2489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65" name="llm-t"/>
          <p:cNvSpPr txBox="1"/>
          <p:nvPr/>
        </p:nvSpPr>
        <p:spPr>
          <a:xfrm>
            <a:off x="7213600" y="1295400"/>
            <a:ext cx="19050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LLM CURATION — drafts only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Template extraction — lessons, decision rationale, recommendations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Taxonomy tagging — domain, region, knowledge type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Summarization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Entity &amp; relationship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Draft confidence scoring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Embedding &amp; chunking — metadata-carrying vectors</a:t>
            </a:r>
            <a:endParaRPr lang="en-US" sz="1600" noProof="1"/>
          </a:p>
        </p:txBody>
      </p:sp>
      <p:sp>
        <p:nvSpPr>
          <p:cNvPr id="66" name="c2-circle"/>
          <p:cNvSpPr/>
          <p:nvPr/>
        </p:nvSpPr>
        <p:spPr>
          <a:xfrm>
            <a:off x="7061200" y="1143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67" name="c2-num"/>
          <p:cNvSpPr txBox="1"/>
          <p:nvPr/>
        </p:nvSpPr>
        <p:spPr>
          <a:xfrm>
            <a:off x="7061200" y="1143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lang="en-US" sz="950" noProof="1"/>
          </a:p>
        </p:txBody>
      </p:sp>
      <p:sp>
        <p:nvSpPr>
          <p:cNvPr id="68" name="sme-b"/>
          <p:cNvSpPr/>
          <p:nvPr/>
        </p:nvSpPr>
        <p:spPr>
          <a:xfrm>
            <a:off x="5130800" y="3860800"/>
            <a:ext cx="40640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69" name="sme-t"/>
          <p:cNvSpPr txBox="1"/>
          <p:nvPr/>
        </p:nvSpPr>
        <p:spPr>
          <a:xfrm>
            <a:off x="5232400" y="3924300"/>
            <a:ext cx="3886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SME REVIEW QUEUE — the human gate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Accept / edit / reject · nothing enters the governed store unreviewed · SME corrections drive the accuracy loop</a:t>
            </a:r>
            <a:endParaRPr lang="en-US" sz="1600" noProof="1"/>
          </a:p>
        </p:txBody>
      </p:sp>
      <p:sp>
        <p:nvSpPr>
          <p:cNvPr id="70" name="c4-circle"/>
          <p:cNvSpPr/>
          <p:nvPr/>
        </p:nvSpPr>
        <p:spPr>
          <a:xfrm>
            <a:off x="5054600" y="37846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1" name="c4-num"/>
          <p:cNvSpPr txBox="1"/>
          <p:nvPr/>
        </p:nvSpPr>
        <p:spPr>
          <a:xfrm>
            <a:off x="5054600" y="37846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4</a:t>
            </a:r>
            <a:endParaRPr lang="en-US" sz="950" noProof="1"/>
          </a:p>
        </p:txBody>
      </p:sp>
      <p:sp>
        <p:nvSpPr>
          <p:cNvPr id="72" name="qm-b"/>
          <p:cNvSpPr/>
          <p:nvPr/>
        </p:nvSpPr>
        <p:spPr>
          <a:xfrm>
            <a:off x="5130800" y="4876800"/>
            <a:ext cx="4064000" cy="7112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73" name="qm-t"/>
          <p:cNvSpPr txBox="1"/>
          <p:nvPr/>
        </p:nvSpPr>
        <p:spPr>
          <a:xfrm>
            <a:off x="5232400" y="4940300"/>
            <a:ext cx="3886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EXTRACTION QUALITY MONITORING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SME edit patterns refine prompts &amp; models · low-confidence clusters routed for targeted re-review</a:t>
            </a:r>
            <a:endParaRPr lang="en-US" sz="1600" noProof="1"/>
          </a:p>
        </p:txBody>
      </p:sp>
      <p:sp>
        <p:nvSpPr>
          <p:cNvPr id="74" name="arr-i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4038600" y="23495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5" name="arr-lt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4978400" y="22352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6" name="arr-t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70358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7" name="arr-ls"/>
          <p:cNvSpPr/>
          <p:nvPr>
            <p:extLst>
              <p:ext uri="{F5677B7D-0D2A-4D9B-9A5C-6D8D7D0E5A5D}">
                <pptd:line encoding="base64url">eyJ2aWV3Qm94IjpbOCwxMl0sInBvaW50cyI6IjQsMCA0LDEyIiwiY3VydmUiOiJzaGFycCJ9</pptd:line>
              </p:ext>
            </p:extLst>
          </p:nvPr>
        </p:nvSpPr>
        <p:spPr>
          <a:xfrm>
            <a:off x="8077200" y="3708400"/>
            <a:ext cx="101600" cy="152400"/>
          </a:xfrm>
          <a:custGeom>
            <a:avLst/>
            <a:gdLst/>
            <a:ahLst/>
            <a:cxnLst/>
            <a:rect l="l" t="t" r="r" b="b"/>
            <a:pathLst>
              <a:path w="8" h="12">
                <a:moveTo>
                  <a:pt x="4" y="0"/>
                </a:moveTo>
                <a:lnTo>
                  <a:pt x="4" y="12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8" name="platform-panel"/>
          <p:cNvSpPr/>
          <p:nvPr/>
        </p:nvSpPr>
        <p:spPr>
          <a:xfrm>
            <a:off x="9372600" y="914400"/>
            <a:ext cx="3149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79" name="pf1-b"/>
          <p:cNvSpPr/>
          <p:nvPr/>
        </p:nvSpPr>
        <p:spPr>
          <a:xfrm>
            <a:off x="9474200" y="106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0" name="pf1-t"/>
          <p:cNvSpPr txBox="1"/>
          <p:nvPr/>
        </p:nvSpPr>
        <p:spPr>
          <a:xfrm>
            <a:off x="9575800" y="113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Repository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Raw + contextualized knowledge assets</a:t>
            </a:r>
            <a:endParaRPr lang="en-US" sz="1600" noProof="1"/>
          </a:p>
        </p:txBody>
      </p:sp>
      <p:sp>
        <p:nvSpPr>
          <p:cNvPr id="81" name="pf2-b"/>
          <p:cNvSpPr/>
          <p:nvPr/>
        </p:nvSpPr>
        <p:spPr>
          <a:xfrm>
            <a:off x="9474200" y="187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2" name="pf2-t"/>
          <p:cNvSpPr txBox="1"/>
          <p:nvPr/>
        </p:nvSpPr>
        <p:spPr>
          <a:xfrm>
            <a:off x="9575800" y="194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Profisee Metadata &amp; Taxonomy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Common metadata spine — one taxonomy for every source</a:t>
            </a:r>
            <a:endParaRPr lang="en-US" sz="1600" noProof="1"/>
          </a:p>
        </p:txBody>
      </p:sp>
      <p:sp>
        <p:nvSpPr>
          <p:cNvPr id="83" name="pf3-b"/>
          <p:cNvSpPr/>
          <p:nvPr/>
        </p:nvSpPr>
        <p:spPr>
          <a:xfrm>
            <a:off x="9474200" y="2692400"/>
            <a:ext cx="29464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84" name="pf3-t"/>
          <p:cNvSpPr txBox="1"/>
          <p:nvPr/>
        </p:nvSpPr>
        <p:spPr>
          <a:xfrm>
            <a:off x="9575800" y="275590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Graph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Decisions ↔ lessons ↔ outcomes ↔ assets ↔ SMEs — answers "have we seen this before?"</a:t>
            </a:r>
            <a:endParaRPr lang="en-US" sz="1600" noProof="1"/>
          </a:p>
        </p:txBody>
      </p:sp>
      <p:sp>
        <p:nvSpPr>
          <p:cNvPr id="85" name="pf4-b"/>
          <p:cNvSpPr/>
          <p:nvPr/>
        </p:nvSpPr>
        <p:spPr>
          <a:xfrm>
            <a:off x="9474200" y="360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6" name="pf4-t"/>
          <p:cNvSpPr txBox="1"/>
          <p:nvPr/>
        </p:nvSpPr>
        <p:spPr>
          <a:xfrm>
            <a:off x="9575800" y="367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Vector Index + Keyword Index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Metadata-carrying embeddings for semantic search</a:t>
            </a:r>
            <a:endParaRPr lang="en-US" sz="1600" noProof="1"/>
          </a:p>
        </p:txBody>
      </p:sp>
      <p:sp>
        <p:nvSpPr>
          <p:cNvPr id="87" name="pf5-b"/>
          <p:cNvSpPr/>
          <p:nvPr/>
        </p:nvSpPr>
        <p:spPr>
          <a:xfrm>
            <a:off x="9474200" y="441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8" name="pf5-t"/>
          <p:cNvSpPr txBox="1"/>
          <p:nvPr/>
        </p:nvSpPr>
        <p:spPr>
          <a:xfrm>
            <a:off x="9575800" y="448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Hybrid Retrieval &amp; Ranking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Semantic + keyword + graph traversal, fused &amp; ranked</a:t>
            </a:r>
            <a:endParaRPr lang="en-US" sz="1600" noProof="1"/>
          </a:p>
        </p:txBody>
      </p:sp>
      <p:sp>
        <p:nvSpPr>
          <p:cNvPr id="89" name="pf6-b"/>
          <p:cNvSpPr/>
          <p:nvPr/>
        </p:nvSpPr>
        <p:spPr>
          <a:xfrm>
            <a:off x="9474200" y="52324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0" name="pf6-t"/>
          <p:cNvSpPr txBox="1"/>
          <p:nvPr/>
        </p:nvSpPr>
        <p:spPr>
          <a:xfrm>
            <a:off x="9575800" y="52959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Quality &amp; Confidence Layer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Every asset tiered High / Medium / Low — shown at consumption</a:t>
            </a:r>
            <a:endParaRPr lang="en-US" sz="1600" noProof="1"/>
          </a:p>
        </p:txBody>
      </p:sp>
      <p:sp>
        <p:nvSpPr>
          <p:cNvPr id="91" name="pf-note-b"/>
          <p:cNvSpPr/>
          <p:nvPr/>
        </p:nvSpPr>
        <p:spPr>
          <a:xfrm>
            <a:off x="9474200" y="6045200"/>
            <a:ext cx="2946400" cy="5588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92" name="pf-note-t"/>
          <p:cNvSpPr txBox="1"/>
          <p:nvPr/>
        </p:nvSpPr>
        <p:spPr>
          <a:xfrm>
            <a:off x="9575800" y="60960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650" noProof="1" b="1">
                <a:solidFill>
                  <a:srgbClr val="8C9390"/>
                </a:solidFill>
                <a:latin typeface="MiSans"/>
                <a:ea typeface="MiSans"/>
              </a:rPr>
              <a:t>Persistent source links</a:t>
            </a: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 — every asset cites its raw artifact (page / section / timestamp)</a:t>
            </a:r>
            <a:endParaRPr lang="en-US" sz="1600" noProof="1"/>
          </a:p>
        </p:txBody>
      </p:sp>
      <p:sp>
        <p:nvSpPr>
          <p:cNvPr id="93" name="ac1-b"/>
          <p:cNvSpPr/>
          <p:nvPr/>
        </p:nvSpPr>
        <p:spPr>
          <a:xfrm>
            <a:off x="12674600" y="965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4" name="ac1-t"/>
          <p:cNvSpPr txBox="1"/>
          <p:nvPr/>
        </p:nvSpPr>
        <p:spPr>
          <a:xfrm>
            <a:off x="12725400" y="1016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Faceted Search UI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Domain · region · tier</a:t>
            </a:r>
            <a:endParaRPr lang="en-US" sz="1600" noProof="1"/>
          </a:p>
        </p:txBody>
      </p:sp>
      <p:sp>
        <p:nvSpPr>
          <p:cNvPr id="95" name="ac2-b"/>
          <p:cNvSpPr/>
          <p:nvPr/>
        </p:nvSpPr>
        <p:spPr>
          <a:xfrm>
            <a:off x="12674600" y="1727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6" name="ac2-t"/>
          <p:cNvSpPr txBox="1"/>
          <p:nvPr/>
        </p:nvSpPr>
        <p:spPr>
          <a:xfrm>
            <a:off x="12725400" y="1778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Q&amp;A Assistant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Citations + confidence badges</a:t>
            </a:r>
            <a:endParaRPr lang="en-US" sz="1600" noProof="1"/>
          </a:p>
        </p:txBody>
      </p:sp>
      <p:sp>
        <p:nvSpPr>
          <p:cNvPr id="97" name="ac3-b"/>
          <p:cNvSpPr/>
          <p:nvPr/>
        </p:nvSpPr>
        <p:spPr>
          <a:xfrm>
            <a:off x="12674600" y="2489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8" name="ac3-t"/>
          <p:cNvSpPr txBox="1"/>
          <p:nvPr/>
        </p:nvSpPr>
        <p:spPr>
          <a:xfrm>
            <a:off x="12725400" y="2540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APIs / MCP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Knowledge for other tools</a:t>
            </a:r>
            <a:endParaRPr lang="en-US" sz="1600" noProof="1"/>
          </a:p>
        </p:txBody>
      </p:sp>
      <p:sp>
        <p:nvSpPr>
          <p:cNvPr id="99" name="ac4-b"/>
          <p:cNvSpPr/>
          <p:nvPr/>
        </p:nvSpPr>
        <p:spPr>
          <a:xfrm>
            <a:off x="12674600" y="3251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0" name="ac4-t"/>
          <p:cNvSpPr txBox="1"/>
          <p:nvPr/>
        </p:nvSpPr>
        <p:spPr>
          <a:xfrm>
            <a:off x="12725400" y="3302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Subscriptions &amp; Alerts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New lessons in your domain</a:t>
            </a:r>
            <a:endParaRPr lang="en-US" sz="1600" noProof="1"/>
          </a:p>
        </p:txBody>
      </p:sp>
      <p:sp>
        <p:nvSpPr>
          <p:cNvPr id="101" name="ac5-b"/>
          <p:cNvSpPr/>
          <p:nvPr/>
        </p:nvSpPr>
        <p:spPr>
          <a:xfrm>
            <a:off x="12674600" y="4013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2" name="ac5-t"/>
          <p:cNvSpPr txBox="1"/>
          <p:nvPr/>
        </p:nvSpPr>
        <p:spPr>
          <a:xfrm>
            <a:off x="12725400" y="4064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Usage Feedback Capture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Ratings &amp; decision signals</a:t>
            </a:r>
            <a:endParaRPr lang="en-US" sz="1600" noProof="1"/>
          </a:p>
        </p:txBody>
      </p:sp>
      <p:sp>
        <p:nvSpPr>
          <p:cNvPr id="103" name="cn1-b"/>
          <p:cNvSpPr/>
          <p:nvPr/>
        </p:nvSpPr>
        <p:spPr>
          <a:xfrm>
            <a:off x="14198600" y="9652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4" name="cn1-t"/>
          <p:cNvSpPr txBox="1"/>
          <p:nvPr/>
        </p:nvSpPr>
        <p:spPr>
          <a:xfrm>
            <a:off x="14300200" y="10287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Planning &amp; Scheduling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LP / DPO teams</a:t>
            </a:r>
            <a:endParaRPr lang="en-US" sz="1600" noProof="1"/>
          </a:p>
        </p:txBody>
      </p:sp>
      <p:sp>
        <p:nvSpPr>
          <p:cNvPr id="105" name="cn2-b"/>
          <p:cNvSpPr/>
          <p:nvPr/>
        </p:nvSpPr>
        <p:spPr>
          <a:xfrm>
            <a:off x="14198600" y="17780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6" name="cn2-t"/>
          <p:cNvSpPr txBox="1"/>
          <p:nvPr/>
        </p:nvSpPr>
        <p:spPr>
          <a:xfrm>
            <a:off x="14300200" y="18415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Backcast &amp; Lookback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Lessons fed into the next cycle</a:t>
            </a:r>
            <a:endParaRPr lang="en-US" sz="1600" noProof="1"/>
          </a:p>
        </p:txBody>
      </p:sp>
      <p:sp>
        <p:nvSpPr>
          <p:cNvPr id="107" name="cn3-b"/>
          <p:cNvSpPr/>
          <p:nvPr/>
        </p:nvSpPr>
        <p:spPr>
          <a:xfrm>
            <a:off x="14198600" y="25908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8" name="cn3-t"/>
          <p:cNvSpPr txBox="1"/>
          <p:nvPr/>
        </p:nvSpPr>
        <p:spPr>
          <a:xfrm>
            <a:off x="14300200" y="26543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CI Leadership Reviews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Recurring reporting &amp; decisions</a:t>
            </a:r>
            <a:endParaRPr lang="en-US" sz="1600" noProof="1"/>
          </a:p>
        </p:txBody>
      </p:sp>
      <p:sp>
        <p:nvSpPr>
          <p:cNvPr id="109" name="cn4-b"/>
          <p:cNvSpPr/>
          <p:nvPr/>
        </p:nvSpPr>
        <p:spPr>
          <a:xfrm>
            <a:off x="14198600" y="3403600"/>
            <a:ext cx="1905000" cy="711200"/>
          </a:xfrm>
          <a:prstGeom prst="rect">
            <a:avLst/>
          </a:prstGeom>
          <a:noFill/>
          <a:ln w="12700">
            <a:solidFill>
              <a:srgbClr val="D9A7B4"/>
            </a:solidFill>
            <a:prstDash val="dash"/>
          </a:ln>
        </p:spPr>
      </p:sp>
      <p:sp>
        <p:nvSpPr>
          <p:cNvPr id="110" name="cn4-t"/>
          <p:cNvSpPr txBox="1"/>
          <p:nvPr/>
        </p:nvSpPr>
        <p:spPr>
          <a:xfrm>
            <a:off x="14300200" y="34671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Decision-Support Agents</a:t>
            </a:r>
            <a:r>
              <a:rPr lang="en-US" sz="650" noProof="1">
                <a:solidFill>
                  <a:srgbClr val="D9A7B4"/>
                </a:solidFill>
                <a:latin typeface="MiSans"/>
                <a:ea typeface="MiSans"/>
              </a:rPr>
              <a:t>  FUTURE PHASE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Proactive lesson surfacing · gap detection</a:t>
            </a:r>
            <a:endParaRPr lang="en-US" sz="1600" noProof="1"/>
          </a:p>
        </p:txBody>
      </p:sp>
      <p:sp>
        <p:nvSpPr>
          <p:cNvPr id="111" name="arr-cp"/>
          <p:cNvSpPr/>
          <p:nvPr>
            <p:extLst>
              <p:ext uri="{F5677B7D-0D2A-4D9B-9A5C-6D8D7D0E5A5D}">
                <pptd:line encoding="base64url">eyJ2aWV3Qm94IjpbMTQsOF0sInBvaW50cyI6IjAsNCAxNCw0IiwiY3VydmUiOiJzaGFycCJ9</pptd:line>
              </p:ext>
            </p:extLst>
          </p:nvPr>
        </p:nvSpPr>
        <p:spPr>
          <a:xfrm>
            <a:off x="9245600" y="3429000"/>
            <a:ext cx="177800" cy="101600"/>
          </a:xfrm>
          <a:custGeom>
            <a:avLst/>
            <a:gdLst/>
            <a:ahLst/>
            <a:cxnLst/>
            <a:rect l="l" t="t" r="r" b="b"/>
            <a:pathLst>
              <a:path w="14" h="8">
                <a:moveTo>
                  <a:pt x="0" y="4"/>
                </a:moveTo>
                <a:lnTo>
                  <a:pt x="14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2" name="arr-pa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2522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3" name="arr-ac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4046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4" name="feedback-line"/>
          <p:cNvSpPr/>
          <p:nvPr>
            <p:extLst>
              <p:ext uri="{F5677B7D-0D2A-4D9B-9A5C-6D8D7D0E5A5D}">
                <pptd:line encoding="base64url">eyJ2aWV3Qm94IjpbNDkwLDE3NF0sInBvaW50cyI6IjQ5MCwwIDQ5MCwxNzQgMCwxNzQgMCwxMCIsImN1cnZlIjoic2hhcnAifQ</pptd:line>
              </p:ext>
            </p:extLst>
          </p:nvPr>
        </p:nvSpPr>
        <p:spPr>
          <a:xfrm>
            <a:off x="7112000" y="4673600"/>
            <a:ext cx="6223000" cy="2209800"/>
          </a:xfrm>
          <a:custGeom>
            <a:avLst/>
            <a:gdLst/>
            <a:ahLst/>
            <a:cxnLst/>
            <a:rect l="l" t="t" r="r" b="b"/>
            <a:pathLst>
              <a:path w="490" h="174">
                <a:moveTo>
                  <a:pt x="490" y="0"/>
                </a:moveTo>
                <a:lnTo>
                  <a:pt x="490" y="174"/>
                </a:lnTo>
                <a:lnTo>
                  <a:pt x="0" y="174"/>
                </a:lnTo>
                <a:lnTo>
                  <a:pt x="0" y="10"/>
                </a:lnTo>
              </a:path>
            </a:pathLst>
          </a:custGeom>
          <a:noFill/>
          <a:ln w="15240">
            <a:solidFill>
              <a:srgbClr val="8C9390"/>
            </a:solidFill>
            <a:prstDash val="dash"/>
            <a:tailEnd type="arrow"/>
          </a:ln>
        </p:spPr>
      </p:sp>
      <p:sp>
        <p:nvSpPr>
          <p:cNvPr id="115" name="feedback-label"/>
          <p:cNvSpPr txBox="1"/>
          <p:nvPr/>
        </p:nvSpPr>
        <p:spPr>
          <a:xfrm>
            <a:off x="7874000" y="6731000"/>
            <a:ext cx="4826000" cy="139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8C9390"/>
                </a:solidFill>
                <a:latin typeface="MiSans"/>
                <a:ea typeface="MiSans"/>
              </a:rPr>
              <a:t>feedback — usefulness ratings · SME corrections · gap signals → re-curation</a:t>
            </a:r>
            <a:endParaRPr lang="en-US" sz="750" noProof="1"/>
          </a:p>
        </p:txBody>
      </p:sp>
      <p:sp>
        <p:nvSpPr>
          <p:cNvPr id="116" name="band-panel"/>
          <p:cNvSpPr/>
          <p:nvPr/>
        </p:nvSpPr>
        <p:spPr>
          <a:xfrm>
            <a:off x="152400" y="7061200"/>
            <a:ext cx="15951200" cy="965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117" name="c5-circle"/>
          <p:cNvSpPr/>
          <p:nvPr/>
        </p:nvSpPr>
        <p:spPr>
          <a:xfrm>
            <a:off x="228600" y="7137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118" name="c5-num"/>
          <p:cNvSpPr txBox="1"/>
          <p:nvPr/>
        </p:nvSpPr>
        <p:spPr>
          <a:xfrm>
            <a:off x="228600" y="7137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5</a:t>
            </a:r>
            <a:endParaRPr lang="en-US" sz="950" noProof="1"/>
          </a:p>
        </p:txBody>
      </p:sp>
      <p:sp>
        <p:nvSpPr>
          <p:cNvPr id="119" name="band-header"/>
          <p:cNvSpPr txBox="1"/>
          <p:nvPr/>
        </p:nvSpPr>
        <p:spPr>
          <a:xfrm>
            <a:off x="558800" y="7162800"/>
            <a:ext cx="508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50" noProof="1" b="1">
                <a:solidFill>
                  <a:srgbClr val="2E3A45"/>
                </a:solidFill>
                <a:latin typeface="MiSans"/>
                <a:ea typeface="MiSans"/>
              </a:rPr>
              <a:t>Common Platform Services — built once, applied across every stage</a:t>
            </a:r>
            <a:endParaRPr lang="en-US" sz="950" noProof="1"/>
          </a:p>
        </p:txBody>
      </p:sp>
      <p:sp>
        <p:nvSpPr>
          <p:cNvPr id="120" name="bs1-b"/>
          <p:cNvSpPr/>
          <p:nvPr/>
        </p:nvSpPr>
        <p:spPr>
          <a:xfrm>
            <a:off x="609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1" name="bs1-t"/>
          <p:cNvSpPr txBox="1"/>
          <p:nvPr/>
        </p:nvSpPr>
        <p:spPr>
          <a:xfrm>
            <a:off x="711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Governance &amp; Lifecycle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States · refresh triggers · archival · escalation</a:t>
            </a:r>
            <a:endParaRPr lang="en-US" sz="1600" noProof="1"/>
          </a:p>
        </p:txBody>
      </p:sp>
      <p:sp>
        <p:nvSpPr>
          <p:cNvPr id="122" name="bs2-b"/>
          <p:cNvSpPr/>
          <p:nvPr/>
        </p:nvSpPr>
        <p:spPr>
          <a:xfrm>
            <a:off x="31750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3" name="bs2-t"/>
          <p:cNvSpPr txBox="1"/>
          <p:nvPr/>
        </p:nvSpPr>
        <p:spPr>
          <a:xfrm>
            <a:off x="32766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Quality-Tier &amp; Confidence Model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Authoritative vs. indicative sources</a:t>
            </a:r>
            <a:endParaRPr lang="en-US" sz="1600" noProof="1"/>
          </a:p>
        </p:txBody>
      </p:sp>
      <p:sp>
        <p:nvSpPr>
          <p:cNvPr id="124" name="bs3-b"/>
          <p:cNvSpPr/>
          <p:nvPr/>
        </p:nvSpPr>
        <p:spPr>
          <a:xfrm>
            <a:off x="57404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5" name="bs3-t"/>
          <p:cNvSpPr txBox="1"/>
          <p:nvPr/>
        </p:nvSpPr>
        <p:spPr>
          <a:xfrm>
            <a:off x="58420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Access Control &amp; Sensitivity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Market-sensitive content handling</a:t>
            </a:r>
            <a:endParaRPr lang="en-US" sz="1600" noProof="1"/>
          </a:p>
        </p:txBody>
      </p:sp>
      <p:sp>
        <p:nvSpPr>
          <p:cNvPr id="126" name="bs4-b"/>
          <p:cNvSpPr/>
          <p:nvPr/>
        </p:nvSpPr>
        <p:spPr>
          <a:xfrm>
            <a:off x="83058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7" name="bs4-t"/>
          <p:cNvSpPr txBox="1"/>
          <p:nvPr/>
        </p:nvSpPr>
        <p:spPr>
          <a:xfrm>
            <a:off x="84074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Audit &amp; Versioning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Full lineage &amp; change history</a:t>
            </a:r>
            <a:endParaRPr lang="en-US" sz="1600" noProof="1"/>
          </a:p>
        </p:txBody>
      </p:sp>
      <p:sp>
        <p:nvSpPr>
          <p:cNvPr id="128" name="bs5-b"/>
          <p:cNvSpPr/>
          <p:nvPr/>
        </p:nvSpPr>
        <p:spPr>
          <a:xfrm>
            <a:off x="108712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9" name="bs5-t"/>
          <p:cNvSpPr txBox="1"/>
          <p:nvPr/>
        </p:nvSpPr>
        <p:spPr>
          <a:xfrm>
            <a:off x="109728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Continuous Improvement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SME corrections → prompts &amp; models</a:t>
            </a:r>
            <a:endParaRPr lang="en-US" sz="1600" noProof="1"/>
          </a:p>
        </p:txBody>
      </p:sp>
      <p:sp>
        <p:nvSpPr>
          <p:cNvPr id="130" name="bs6-b"/>
          <p:cNvSpPr/>
          <p:nvPr/>
        </p:nvSpPr>
        <p:spPr>
          <a:xfrm>
            <a:off x="13436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31" name="bs6-t"/>
          <p:cNvSpPr txBox="1"/>
          <p:nvPr/>
        </p:nvSpPr>
        <p:spPr>
          <a:xfrm>
            <a:off x="13538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Monitoring &amp; Ops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Pipeline health &amp; ingestion status</a:t>
            </a:r>
            <a:endParaRPr lang="en-US" sz="16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1</Slides>
</Properties>
</file>

<file path=docProps/core.xml><?xml version="1.0" encoding="utf-8"?>
<cp:coreProperties xmlns:dc="http://purl.org/dc/elements/1.1/" xmlns:cp="http://schemas.openxmlformats.org/package/2006/metadata/core-properties">
  <dc:title>CI KM — End-to-End Solution Architecture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