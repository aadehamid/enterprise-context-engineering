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</p:sldIdLst>
  <p:notesMasterIdLst>
    <p:notesMasterId r:id="rId7"/>
  </p:notesMasterIdLst>
  <p:sldSz cx="16256000" cy="8128000" type="custom"/>
  <p:notesSz cx="16256000" cy="8128000"/>
  <p:embeddedFontLst>
    <p:embeddedFont>
      <p:font typeface="MiSans" charset="-122" pitchFamily="34"/>
      <p:regular r:id="rId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font" Target="fonts/font1.fntdata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End-to-end solution architecture for the CI KM capability, in the reference consulting format. Left: real CI knowledge sources from the inventory (LSC Backcast Report Library, LSC regional SharePoint sites, email chains, MS Teams, OneNote, LSC Planning DB / Impact Log, Value Opportunity Trackers) with callout 1 automated capture. Feeds column: Graph API connectors, batch crawl, event triggers, manual SME upload. Central zone: ingestion microservices, landing (immutable raw store, event log, lineage), traditional AI/ML (OCR, speech-to-text with diarization, classification, dedup, table extraction), LLM curation as pink overlay callout 2 (template extraction, taxonomy tagging, summarization, entity/relationship extraction, draft confidence scoring, embedding and chunking), SME review queue as human gate callout 4, extraction quality monitoring. Platform zone with banner callout 3: knowledge graph + Profisee metadata as single source of truth; repository, vector + keyword indexes, hybrid retrieval, quality and confidence layer, persistent source links. Access column: faceted search, Q&amp;A assistant with citations and confidence badges, APIs/MCP, subscriptions, usage feedback capture. Consumers: planning and scheduling, backcast and lookback, CI leadership reviews, and dashed future-phase decision-support agents. Dashed feedback loop returns usage signals and SME corrections to curation. Bottom band callout 5: common platform services — governance and lifecycle, quality-tier model, access control and sensitivity, audit and versioning, continuous improvement, monitoring.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52400" y="1270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2E3A45"/>
                </a:solidFill>
                <a:latin typeface="MiSans"/>
                <a:ea typeface="MiSans"/>
              </a:rPr>
              <a:t>CI Knowledge Management — End-to-End Solution Architecture</a:t>
            </a:r>
            <a:endParaRPr lang="en-US" sz="1700" noProof="1"/>
          </a:p>
        </p:txBody>
      </p:sp>
      <p:sp>
        <p:nvSpPr>
          <p:cNvPr id="3" name="subtitle"/>
          <p:cNvSpPr txBox="1"/>
          <p:nvPr/>
        </p:nvSpPr>
        <p:spPr>
          <a:xfrm>
            <a:off x="152400" y="469900"/>
            <a:ext cx="685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8C9390"/>
                </a:solidFill>
                <a:latin typeface="MiSans"/>
                <a:ea typeface="MiSans"/>
              </a:rPr>
              <a:t>AI proposes, humans approve — scattered CI artifacts become governed, searchable, decision-ready knowledge</a:t>
            </a:r>
            <a:endParaRPr lang="en-US" sz="900" noProof="1"/>
          </a:p>
        </p:txBody>
      </p:sp>
      <p:sp>
        <p:nvSpPr>
          <p:cNvPr id="4" name="banner3-box"/>
          <p:cNvSpPr/>
          <p:nvPr/>
        </p:nvSpPr>
        <p:spPr>
          <a:xfrm>
            <a:off x="7112000" y="152400"/>
            <a:ext cx="8991600" cy="482600"/>
          </a:xfrm>
          <a:prstGeom prst="roundRect">
            <a:avLst>
              <a:gd name="adj" fmla="val 12000"/>
            </a:avLst>
          </a:prstGeom>
          <a:solidFill>
            <a:srgbClr val="F9E8EC"/>
          </a:solidFill>
          <a:ln w="12700">
            <a:solidFill>
              <a:srgbClr val="D9A7B4"/>
            </a:solidFill>
          </a:ln>
        </p:spPr>
      </p:sp>
      <p:sp>
        <p:nvSpPr>
          <p:cNvPr id="5" name="banner3-text"/>
          <p:cNvSpPr txBox="1"/>
          <p:nvPr/>
        </p:nvSpPr>
        <p:spPr>
          <a:xfrm>
            <a:off x="7518400" y="203200"/>
            <a:ext cx="848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Implement a Knowledge Graph + Profisee metadata as the governed "single source of truth"</a:t>
            </a:r>
            <a:r>
              <a:rPr lang="en-US" sz="850" noProof="1">
                <a:solidFill>
                  <a:srgbClr val="47525C"/>
                </a:solidFill>
                <a:latin typeface="MiSans"/>
                <a:ea typeface="MiSans"/>
              </a:rPr>
              <a:t> — connecting decisions ↔ lessons ↔ outcomes ↔ assets ↔ SMEs, so "have we seen this before?" is answerable</a:t>
            </a:r>
            <a:endParaRPr lang="en-US" sz="850" noProof="1"/>
          </a:p>
        </p:txBody>
      </p:sp>
      <p:sp>
        <p:nvSpPr>
          <p:cNvPr id="6" name="c3-circle"/>
          <p:cNvSpPr/>
          <p:nvPr/>
        </p:nvSpPr>
        <p:spPr>
          <a:xfrm>
            <a:off x="7213600" y="2794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7" name="c3-num"/>
          <p:cNvSpPr txBox="1"/>
          <p:nvPr/>
        </p:nvSpPr>
        <p:spPr>
          <a:xfrm>
            <a:off x="7213600" y="27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950" noProof="1"/>
          </a:p>
        </p:txBody>
      </p:sp>
      <p:sp>
        <p:nvSpPr>
          <p:cNvPr id="8" name="zh-sources"/>
          <p:cNvSpPr txBox="1"/>
          <p:nvPr/>
        </p:nvSpPr>
        <p:spPr>
          <a:xfrm>
            <a:off x="152400" y="6858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CI Knowledge Sources</a:t>
            </a:r>
            <a:endParaRPr lang="en-US" sz="1050" noProof="1"/>
          </a:p>
        </p:txBody>
      </p:sp>
      <p:sp>
        <p:nvSpPr>
          <p:cNvPr id="9" name="zh-feeds"/>
          <p:cNvSpPr txBox="1"/>
          <p:nvPr/>
        </p:nvSpPr>
        <p:spPr>
          <a:xfrm>
            <a:off x="2184400" y="6858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Feeds</a:t>
            </a:r>
            <a:endParaRPr lang="en-US" sz="1050" noProof="1"/>
          </a:p>
        </p:txBody>
      </p:sp>
      <p:sp>
        <p:nvSpPr>
          <p:cNvPr id="10" name="zh-ingest"/>
          <p:cNvSpPr txBox="1"/>
          <p:nvPr/>
        </p:nvSpPr>
        <p:spPr>
          <a:xfrm>
            <a:off x="3098800" y="685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Ingestion &amp; AI Processing</a:t>
            </a:r>
            <a:endParaRPr lang="en-US" sz="1050" noProof="1"/>
          </a:p>
        </p:txBody>
      </p:sp>
      <p:sp>
        <p:nvSpPr>
          <p:cNvPr id="11" name="zh-platform"/>
          <p:cNvSpPr txBox="1"/>
          <p:nvPr/>
        </p:nvSpPr>
        <p:spPr>
          <a:xfrm>
            <a:off x="9372600" y="685800"/>
            <a:ext cx="314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Governed Knowledge Platform</a:t>
            </a:r>
            <a:endParaRPr lang="en-US" sz="1050" noProof="1"/>
          </a:p>
        </p:txBody>
      </p:sp>
      <p:sp>
        <p:nvSpPr>
          <p:cNvPr id="12" name="zh-access"/>
          <p:cNvSpPr txBox="1"/>
          <p:nvPr/>
        </p:nvSpPr>
        <p:spPr>
          <a:xfrm>
            <a:off x="12674600" y="685800"/>
            <a:ext cx="1371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Access &amp; Delivery</a:t>
            </a:r>
            <a:endParaRPr lang="en-US" sz="1050" noProof="1"/>
          </a:p>
        </p:txBody>
      </p:sp>
      <p:sp>
        <p:nvSpPr>
          <p:cNvPr id="13" name="zh-consumers"/>
          <p:cNvSpPr txBox="1"/>
          <p:nvPr/>
        </p:nvSpPr>
        <p:spPr>
          <a:xfrm>
            <a:off x="14198600" y="6858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Consumers</a:t>
            </a:r>
            <a:endParaRPr lang="en-US" sz="1050" noProof="1"/>
          </a:p>
        </p:txBody>
      </p:sp>
      <p:sp>
        <p:nvSpPr>
          <p:cNvPr id="14" name="src1-b"/>
          <p:cNvSpPr/>
          <p:nvPr/>
        </p:nvSpPr>
        <p:spPr>
          <a:xfrm>
            <a:off x="152400" y="9652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5" name="src1-t"/>
          <p:cNvSpPr txBox="1"/>
          <p:nvPr/>
        </p:nvSpPr>
        <p:spPr>
          <a:xfrm>
            <a:off x="254000" y="10414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LSC Backcast Report Library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Distribution &amp; LP backcast decks (PDF / PPT)</a:t>
            </a:r>
            <a:endParaRPr lang="en-US" sz="1600" noProof="1"/>
          </a:p>
        </p:txBody>
      </p:sp>
      <p:sp>
        <p:nvSpPr>
          <p:cNvPr id="16" name="src2-b"/>
          <p:cNvSpPr/>
          <p:nvPr/>
        </p:nvSpPr>
        <p:spPr>
          <a:xfrm>
            <a:off x="152400" y="17018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7" name="src2-t"/>
          <p:cNvSpPr txBox="1"/>
          <p:nvPr/>
        </p:nvSpPr>
        <p:spPr>
          <a:xfrm>
            <a:off x="254000" y="17780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LSC Regional SharePoint sites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Regional Value Optimization · Specialty Blending sites</a:t>
            </a:r>
            <a:endParaRPr lang="en-US" sz="1600" noProof="1"/>
          </a:p>
        </p:txBody>
      </p:sp>
      <p:sp>
        <p:nvSpPr>
          <p:cNvPr id="18" name="src3-b"/>
          <p:cNvSpPr/>
          <p:nvPr/>
        </p:nvSpPr>
        <p:spPr>
          <a:xfrm>
            <a:off x="152400" y="24384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9" name="src3-t"/>
          <p:cNvSpPr txBox="1"/>
          <p:nvPr/>
        </p:nvSpPr>
        <p:spPr>
          <a:xfrm>
            <a:off x="254000" y="25146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Email Chains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Regional Optimization &amp; Forecast Review</a:t>
            </a:r>
            <a:endParaRPr lang="en-US" sz="1600" noProof="1"/>
          </a:p>
        </p:txBody>
      </p:sp>
      <p:sp>
        <p:nvSpPr>
          <p:cNvPr id="20" name="src4-b"/>
          <p:cNvSpPr/>
          <p:nvPr/>
        </p:nvSpPr>
        <p:spPr>
          <a:xfrm>
            <a:off x="152400" y="31750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21" name="src4-t"/>
          <p:cNvSpPr txBox="1"/>
          <p:nvPr/>
        </p:nvSpPr>
        <p:spPr>
          <a:xfrm>
            <a:off x="254000" y="32512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MS Teams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Meeting recordings &amp; transcripts</a:t>
            </a:r>
            <a:endParaRPr lang="en-US" sz="1600" noProof="1"/>
          </a:p>
        </p:txBody>
      </p:sp>
      <p:sp>
        <p:nvSpPr>
          <p:cNvPr id="22" name="src5-b"/>
          <p:cNvSpPr/>
          <p:nvPr/>
        </p:nvSpPr>
        <p:spPr>
          <a:xfrm>
            <a:off x="152400" y="39116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23" name="src5-t"/>
          <p:cNvSpPr txBox="1"/>
          <p:nvPr/>
        </p:nvSpPr>
        <p:spPr>
          <a:xfrm>
            <a:off x="254000" y="39878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OneNote &amp; Working Notes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Informal SME knowledge</a:t>
            </a:r>
            <a:endParaRPr lang="en-US" sz="1600" noProof="1"/>
          </a:p>
        </p:txBody>
      </p:sp>
      <p:sp>
        <p:nvSpPr>
          <p:cNvPr id="24" name="src6-b"/>
          <p:cNvSpPr/>
          <p:nvPr/>
        </p:nvSpPr>
        <p:spPr>
          <a:xfrm>
            <a:off x="152400" y="46482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25" name="src6-t"/>
          <p:cNvSpPr txBox="1"/>
          <p:nvPr/>
        </p:nvSpPr>
        <p:spPr>
          <a:xfrm>
            <a:off x="254000" y="47244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LSC Planning DB / Impact Log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Structured CI data &amp; LPO reports</a:t>
            </a:r>
            <a:endParaRPr lang="en-US" sz="1600" noProof="1"/>
          </a:p>
        </p:txBody>
      </p:sp>
      <p:sp>
        <p:nvSpPr>
          <p:cNvPr id="26" name="src7-b"/>
          <p:cNvSpPr/>
          <p:nvPr/>
        </p:nvSpPr>
        <p:spPr>
          <a:xfrm>
            <a:off x="152400" y="53848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27" name="src7-t"/>
          <p:cNvSpPr txBox="1"/>
          <p:nvPr/>
        </p:nvSpPr>
        <p:spPr>
          <a:xfrm>
            <a:off x="254000" y="54610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Value Opportunity Trackers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SharePoint List / Excel</a:t>
            </a:r>
            <a:endParaRPr lang="en-US" sz="1600" noProof="1"/>
          </a:p>
        </p:txBody>
      </p:sp>
      <p:sp>
        <p:nvSpPr>
          <p:cNvPr id="28" name="c1-box"/>
          <p:cNvSpPr/>
          <p:nvPr/>
        </p:nvSpPr>
        <p:spPr>
          <a:xfrm>
            <a:off x="152400" y="6223000"/>
            <a:ext cx="1905000" cy="508000"/>
          </a:xfrm>
          <a:prstGeom prst="roundRect">
            <a:avLst>
              <a:gd name="adj" fmla="val 12000"/>
            </a:avLst>
          </a:prstGeom>
          <a:solidFill>
            <a:srgbClr val="F9E8EC"/>
          </a:solidFill>
          <a:ln w="12700">
            <a:solidFill>
              <a:srgbClr val="D9A7B4"/>
            </a:solidFill>
          </a:ln>
        </p:spPr>
      </p:sp>
      <p:sp>
        <p:nvSpPr>
          <p:cNvPr id="29" name="c1-text"/>
          <p:cNvSpPr txBox="1"/>
          <p:nvPr/>
        </p:nvSpPr>
        <p:spPr>
          <a:xfrm>
            <a:off x="533400" y="6273800"/>
            <a:ext cx="1498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Automated capture</a:t>
            </a: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 — zero new manual burden for CI teams</a:t>
            </a:r>
            <a:endParaRPr lang="en-US" sz="700" noProof="1"/>
          </a:p>
        </p:txBody>
      </p:sp>
      <p:sp>
        <p:nvSpPr>
          <p:cNvPr id="30" name="c1-circle"/>
          <p:cNvSpPr/>
          <p:nvPr/>
        </p:nvSpPr>
        <p:spPr>
          <a:xfrm>
            <a:off x="228600" y="63500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31" name="c1-num"/>
          <p:cNvSpPr txBox="1"/>
          <p:nvPr/>
        </p:nvSpPr>
        <p:spPr>
          <a:xfrm>
            <a:off x="228600" y="63500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950" noProof="1"/>
          </a:p>
        </p:txBody>
      </p:sp>
      <p:sp>
        <p:nvSpPr>
          <p:cNvPr id="32" name="feed1-b"/>
          <p:cNvSpPr/>
          <p:nvPr/>
        </p:nvSpPr>
        <p:spPr>
          <a:xfrm>
            <a:off x="2184400" y="965200"/>
            <a:ext cx="81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33" name="feed1-t"/>
          <p:cNvSpPr txBox="1"/>
          <p:nvPr/>
        </p:nvSpPr>
        <p:spPr>
          <a:xfrm>
            <a:off x="2222500" y="1003300"/>
            <a:ext cx="736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Graph API connectors</a:t>
            </a:r>
            <a:endParaRPr lang="en-US" sz="700" noProof="1"/>
          </a:p>
        </p:txBody>
      </p:sp>
      <p:sp>
        <p:nvSpPr>
          <p:cNvPr id="34" name="feed2-b"/>
          <p:cNvSpPr/>
          <p:nvPr/>
        </p:nvSpPr>
        <p:spPr>
          <a:xfrm>
            <a:off x="2184400" y="1676400"/>
            <a:ext cx="81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35" name="feed2-t"/>
          <p:cNvSpPr txBox="1"/>
          <p:nvPr/>
        </p:nvSpPr>
        <p:spPr>
          <a:xfrm>
            <a:off x="2222500" y="1714500"/>
            <a:ext cx="736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Scheduled batch crawl</a:t>
            </a:r>
            <a:endParaRPr lang="en-US" sz="700" noProof="1"/>
          </a:p>
        </p:txBody>
      </p:sp>
      <p:sp>
        <p:nvSpPr>
          <p:cNvPr id="36" name="feed3-b"/>
          <p:cNvSpPr/>
          <p:nvPr/>
        </p:nvSpPr>
        <p:spPr>
          <a:xfrm>
            <a:off x="2184400" y="2387600"/>
            <a:ext cx="81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37" name="feed3-t"/>
          <p:cNvSpPr txBox="1"/>
          <p:nvPr/>
        </p:nvSpPr>
        <p:spPr>
          <a:xfrm>
            <a:off x="2222500" y="2425700"/>
            <a:ext cx="736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Event triggers (new file posted)</a:t>
            </a:r>
            <a:endParaRPr lang="en-US" sz="700" noProof="1"/>
          </a:p>
        </p:txBody>
      </p:sp>
      <p:sp>
        <p:nvSpPr>
          <p:cNvPr id="38" name="feed4-b"/>
          <p:cNvSpPr/>
          <p:nvPr/>
        </p:nvSpPr>
        <p:spPr>
          <a:xfrm>
            <a:off x="2184400" y="3098800"/>
            <a:ext cx="81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39" name="feed4-t"/>
          <p:cNvSpPr txBox="1"/>
          <p:nvPr/>
        </p:nvSpPr>
        <p:spPr>
          <a:xfrm>
            <a:off x="2222500" y="3136900"/>
            <a:ext cx="736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Manual SME upload</a:t>
            </a:r>
            <a:endParaRPr lang="en-US" sz="700" noProof="1"/>
          </a:p>
        </p:txBody>
      </p:sp>
      <p:sp>
        <p:nvSpPr>
          <p:cNvPr id="40" name="arr-sf"/>
          <p:cNvSpPr/>
          <p:nvPr>
            <p:extLst>
              <p:ext uri="{F5677B7D-0D2A-4D9B-9A5C-6D8D7D0E5A5D}">
                <pptd:line encoding="base64url">eyJ2aWV3Qm94IjpbOCw4XSwicG9pbnRzIjoiMCw0IDgsNCIsImN1cnZlIjoic2hhcnAifQ</pptd:line>
              </p:ext>
            </p:extLst>
          </p:nvPr>
        </p:nvSpPr>
        <p:spPr>
          <a:xfrm>
            <a:off x="2070100" y="2286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4"/>
                </a:moveTo>
                <a:lnTo>
                  <a:pt x="8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41" name="arr-fc"/>
          <p:cNvSpPr/>
          <p:nvPr>
            <p:extLst>
              <p:ext uri="{F5677B7D-0D2A-4D9B-9A5C-6D8D7D0E5A5D}">
                <pptd:line encoding="base64url">eyJ2aWV3Qm94IjpbOCw4XSwicG9pbnRzIjoiMCw0IDgsNCIsImN1cnZlIjoic2hhcnAifQ</pptd:line>
              </p:ext>
            </p:extLst>
          </p:nvPr>
        </p:nvSpPr>
        <p:spPr>
          <a:xfrm>
            <a:off x="3009900" y="2286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4"/>
                </a:moveTo>
                <a:lnTo>
                  <a:pt x="8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42" name="central-panel"/>
          <p:cNvSpPr/>
          <p:nvPr/>
        </p:nvSpPr>
        <p:spPr>
          <a:xfrm>
            <a:off x="3098800" y="914400"/>
            <a:ext cx="6197600" cy="5791200"/>
          </a:xfrm>
          <a:prstGeom prst="rect">
            <a:avLst/>
          </a:prstGeom>
          <a:solidFill>
            <a:srgbClr val="F5F2EC"/>
          </a:solidFill>
          <a:ln w="12700">
            <a:solidFill>
              <a:srgbClr val="DCD5C6"/>
            </a:solidFill>
          </a:ln>
        </p:spPr>
      </p:sp>
      <p:sp>
        <p:nvSpPr>
          <p:cNvPr id="43" name="lbl-ingestion"/>
          <p:cNvSpPr txBox="1"/>
          <p:nvPr/>
        </p:nvSpPr>
        <p:spPr>
          <a:xfrm>
            <a:off x="3200400" y="99060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8C9390"/>
                </a:solidFill>
                <a:latin typeface="MiSans"/>
                <a:ea typeface="MiSans"/>
              </a:rPr>
              <a:t>Ingestion</a:t>
            </a:r>
            <a:endParaRPr lang="en-US" sz="800" noProof="1"/>
          </a:p>
        </p:txBody>
      </p:sp>
      <p:sp>
        <p:nvSpPr>
          <p:cNvPr id="44" name="lbl-landing"/>
          <p:cNvSpPr txBox="1"/>
          <p:nvPr/>
        </p:nvSpPr>
        <p:spPr>
          <a:xfrm>
            <a:off x="4140200" y="99060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8C9390"/>
                </a:solidFill>
                <a:latin typeface="MiSans"/>
                <a:ea typeface="MiSans"/>
              </a:rPr>
              <a:t>Landing</a:t>
            </a:r>
            <a:endParaRPr lang="en-US" sz="800" noProof="1"/>
          </a:p>
        </p:txBody>
      </p:sp>
      <p:sp>
        <p:nvSpPr>
          <p:cNvPr id="45" name="lbl-processing"/>
          <p:cNvSpPr txBox="1"/>
          <p:nvPr/>
        </p:nvSpPr>
        <p:spPr>
          <a:xfrm>
            <a:off x="5130800" y="990600"/>
            <a:ext cx="406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8C9390"/>
                </a:solidFill>
                <a:latin typeface="MiSans"/>
                <a:ea typeface="MiSans"/>
              </a:rPr>
              <a:t>Processing — AI-assisted curation</a:t>
            </a:r>
            <a:endParaRPr lang="en-US" sz="800" noProof="1"/>
          </a:p>
        </p:txBody>
      </p:sp>
      <p:sp>
        <p:nvSpPr>
          <p:cNvPr id="46" name="ing1-b"/>
          <p:cNvSpPr/>
          <p:nvPr/>
        </p:nvSpPr>
        <p:spPr>
          <a:xfrm>
            <a:off x="3200400" y="12192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47" name="ing1-t"/>
          <p:cNvSpPr txBox="1"/>
          <p:nvPr/>
        </p:nvSpPr>
        <p:spPr>
          <a:xfrm>
            <a:off x="3238500" y="12573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Ingestion microservices</a:t>
            </a:r>
            <a:endParaRPr lang="en-US" sz="700" noProof="1"/>
          </a:p>
        </p:txBody>
      </p:sp>
      <p:sp>
        <p:nvSpPr>
          <p:cNvPr id="48" name="ing2-b"/>
          <p:cNvSpPr/>
          <p:nvPr/>
        </p:nvSpPr>
        <p:spPr>
          <a:xfrm>
            <a:off x="3200400" y="20066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49" name="ing2-t"/>
          <p:cNvSpPr txBox="1"/>
          <p:nvPr/>
        </p:nvSpPr>
        <p:spPr>
          <a:xfrm>
            <a:off x="3238500" y="20447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Connector framework — push / pull</a:t>
            </a:r>
            <a:endParaRPr lang="en-US" sz="700" noProof="1"/>
          </a:p>
        </p:txBody>
      </p:sp>
      <p:sp>
        <p:nvSpPr>
          <p:cNvPr id="50" name="ing3-b"/>
          <p:cNvSpPr/>
          <p:nvPr/>
        </p:nvSpPr>
        <p:spPr>
          <a:xfrm>
            <a:off x="3200400" y="27940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1" name="ing3-t"/>
          <p:cNvSpPr txBox="1"/>
          <p:nvPr/>
        </p:nvSpPr>
        <p:spPr>
          <a:xfrm>
            <a:off x="3238500" y="28321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Format normalization</a:t>
            </a:r>
            <a:endParaRPr lang="en-US" sz="700" noProof="1"/>
          </a:p>
        </p:txBody>
      </p:sp>
      <p:sp>
        <p:nvSpPr>
          <p:cNvPr id="52" name="ing4-b"/>
          <p:cNvSpPr/>
          <p:nvPr/>
        </p:nvSpPr>
        <p:spPr>
          <a:xfrm>
            <a:off x="3200400" y="35814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3" name="ing4-t"/>
          <p:cNvSpPr txBox="1"/>
          <p:nvPr/>
        </p:nvSpPr>
        <p:spPr>
          <a:xfrm>
            <a:off x="3238500" y="36195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Sensitive-content flagging</a:t>
            </a:r>
            <a:endParaRPr lang="en-US" sz="700" noProof="1"/>
          </a:p>
        </p:txBody>
      </p:sp>
      <p:sp>
        <p:nvSpPr>
          <p:cNvPr id="54" name="lan1-b"/>
          <p:cNvSpPr/>
          <p:nvPr/>
        </p:nvSpPr>
        <p:spPr>
          <a:xfrm>
            <a:off x="4140200" y="12192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5" name="lan1-t"/>
          <p:cNvSpPr txBox="1"/>
          <p:nvPr/>
        </p:nvSpPr>
        <p:spPr>
          <a:xfrm>
            <a:off x="4178300" y="12573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Immutable raw store</a:t>
            </a:r>
            <a:endParaRPr lang="en-US" sz="700" noProof="1"/>
          </a:p>
        </p:txBody>
      </p:sp>
      <p:sp>
        <p:nvSpPr>
          <p:cNvPr id="56" name="lan2-b"/>
          <p:cNvSpPr/>
          <p:nvPr/>
        </p:nvSpPr>
        <p:spPr>
          <a:xfrm>
            <a:off x="4140200" y="20066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7" name="lan2-t"/>
          <p:cNvSpPr txBox="1"/>
          <p:nvPr/>
        </p:nvSpPr>
        <p:spPr>
          <a:xfrm>
            <a:off x="4178300" y="20447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Ingestion event log</a:t>
            </a:r>
            <a:endParaRPr lang="en-US" sz="700" noProof="1"/>
          </a:p>
        </p:txBody>
      </p:sp>
      <p:sp>
        <p:nvSpPr>
          <p:cNvPr id="58" name="lan3-b"/>
          <p:cNvSpPr/>
          <p:nvPr/>
        </p:nvSpPr>
        <p:spPr>
          <a:xfrm>
            <a:off x="4140200" y="27940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9" name="lan3-t"/>
          <p:cNvSpPr txBox="1"/>
          <p:nvPr/>
        </p:nvSpPr>
        <p:spPr>
          <a:xfrm>
            <a:off x="4178300" y="28321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Source lineage pointers</a:t>
            </a:r>
            <a:endParaRPr lang="en-US" sz="700" noProof="1"/>
          </a:p>
        </p:txBody>
      </p:sp>
      <p:sp>
        <p:nvSpPr>
          <p:cNvPr id="60" name="princ-b"/>
          <p:cNvSpPr/>
          <p:nvPr/>
        </p:nvSpPr>
        <p:spPr>
          <a:xfrm>
            <a:off x="3200400" y="4470400"/>
            <a:ext cx="1778000" cy="1168400"/>
          </a:xfrm>
          <a:prstGeom prst="rect">
            <a:avLst/>
          </a:prstGeom>
          <a:noFill/>
          <a:ln w="12700">
            <a:solidFill>
              <a:srgbClr val="C3CCC6"/>
            </a:solidFill>
            <a:prstDash val="dash"/>
          </a:ln>
        </p:spPr>
      </p:sp>
      <p:sp>
        <p:nvSpPr>
          <p:cNvPr id="61" name="princ-t"/>
          <p:cNvSpPr txBox="1"/>
          <p:nvPr/>
        </p:nvSpPr>
        <p:spPr>
          <a:xfrm>
            <a:off x="3276600" y="4546600"/>
            <a:ext cx="1625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INGESTION PRINCIPLES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Originals immutable · lineage on every asset · sensitivity flagged at capture · no content altered before curation</a:t>
            </a:r>
            <a:endParaRPr lang="en-US" sz="1600" noProof="1"/>
          </a:p>
        </p:txBody>
      </p:sp>
      <p:sp>
        <p:nvSpPr>
          <p:cNvPr id="62" name="tai-b"/>
          <p:cNvSpPr/>
          <p:nvPr/>
        </p:nvSpPr>
        <p:spPr>
          <a:xfrm>
            <a:off x="5130800" y="1219200"/>
            <a:ext cx="1905000" cy="238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63" name="tai-t"/>
          <p:cNvSpPr txBox="1"/>
          <p:nvPr/>
        </p:nvSpPr>
        <p:spPr>
          <a:xfrm>
            <a:off x="5207000" y="1295400"/>
            <a:ext cx="17526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TRADITIONAL AI / ML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OCR &amp; layout extraction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Speech-to-text + speaker diarization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Document classification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Dedup / near-duplicate detection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Table extraction (Excel / PDF)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Deterministic, high-volume digitization of PDFs, decks, recordings &amp; notes</a:t>
            </a:r>
            <a:endParaRPr lang="en-US" sz="1600" noProof="1"/>
          </a:p>
        </p:txBody>
      </p:sp>
      <p:sp>
        <p:nvSpPr>
          <p:cNvPr id="64" name="llm-b"/>
          <p:cNvSpPr/>
          <p:nvPr/>
        </p:nvSpPr>
        <p:spPr>
          <a:xfrm>
            <a:off x="7137400" y="1219200"/>
            <a:ext cx="2057400" cy="2489200"/>
          </a:xfrm>
          <a:prstGeom prst="rect">
            <a:avLst/>
          </a:prstGeom>
          <a:solidFill>
            <a:srgbClr val="F9E8EC"/>
          </a:solidFill>
          <a:ln w="12700">
            <a:solidFill>
              <a:srgbClr val="D9A7B4"/>
            </a:solidFill>
          </a:ln>
        </p:spPr>
      </p:sp>
      <p:sp>
        <p:nvSpPr>
          <p:cNvPr id="65" name="llm-t"/>
          <p:cNvSpPr txBox="1"/>
          <p:nvPr/>
        </p:nvSpPr>
        <p:spPr>
          <a:xfrm>
            <a:off x="7213600" y="1295400"/>
            <a:ext cx="19050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LLM CURATION — drafts only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Template extraction — lessons, decision rationale, recommendations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Taxonomy tagging — domain, region, knowledge type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Summarization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Entity &amp; relationship extraction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Draft confidence scoring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Embedding &amp; chunking — metadata-carrying vectors</a:t>
            </a:r>
            <a:endParaRPr lang="en-US" sz="1600" noProof="1"/>
          </a:p>
        </p:txBody>
      </p:sp>
      <p:sp>
        <p:nvSpPr>
          <p:cNvPr id="66" name="c2-circle"/>
          <p:cNvSpPr/>
          <p:nvPr/>
        </p:nvSpPr>
        <p:spPr>
          <a:xfrm>
            <a:off x="7061200" y="11430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67" name="c2-num"/>
          <p:cNvSpPr txBox="1"/>
          <p:nvPr/>
        </p:nvSpPr>
        <p:spPr>
          <a:xfrm>
            <a:off x="7061200" y="11430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950" noProof="1"/>
          </a:p>
        </p:txBody>
      </p:sp>
      <p:sp>
        <p:nvSpPr>
          <p:cNvPr id="68" name="sme-b"/>
          <p:cNvSpPr/>
          <p:nvPr/>
        </p:nvSpPr>
        <p:spPr>
          <a:xfrm>
            <a:off x="5130800" y="3860800"/>
            <a:ext cx="40640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A7B4"/>
            </a:solidFill>
          </a:ln>
        </p:spPr>
      </p:sp>
      <p:sp>
        <p:nvSpPr>
          <p:cNvPr id="69" name="sme-t"/>
          <p:cNvSpPr txBox="1"/>
          <p:nvPr/>
        </p:nvSpPr>
        <p:spPr>
          <a:xfrm>
            <a:off x="5232400" y="3924300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SME REVIEW QUEUE — the human gate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Accept / edit / reject · nothing enters the governed store unreviewed · SME corrections drive the accuracy loop</a:t>
            </a:r>
            <a:endParaRPr lang="en-US" sz="1600" noProof="1"/>
          </a:p>
        </p:txBody>
      </p:sp>
      <p:sp>
        <p:nvSpPr>
          <p:cNvPr id="70" name="c4-circle"/>
          <p:cNvSpPr/>
          <p:nvPr/>
        </p:nvSpPr>
        <p:spPr>
          <a:xfrm>
            <a:off x="5054600" y="37846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71" name="c4-num"/>
          <p:cNvSpPr txBox="1"/>
          <p:nvPr/>
        </p:nvSpPr>
        <p:spPr>
          <a:xfrm>
            <a:off x="5054600" y="3784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950" noProof="1"/>
          </a:p>
        </p:txBody>
      </p:sp>
      <p:sp>
        <p:nvSpPr>
          <p:cNvPr id="72" name="qm-b"/>
          <p:cNvSpPr/>
          <p:nvPr/>
        </p:nvSpPr>
        <p:spPr>
          <a:xfrm>
            <a:off x="5130800" y="4876800"/>
            <a:ext cx="4064000" cy="711200"/>
          </a:xfrm>
          <a:prstGeom prst="rect">
            <a:avLst/>
          </a:prstGeom>
          <a:noFill/>
          <a:ln w="12700">
            <a:solidFill>
              <a:srgbClr val="C3CCC6"/>
            </a:solidFill>
            <a:prstDash val="dash"/>
          </a:ln>
        </p:spPr>
      </p:sp>
      <p:sp>
        <p:nvSpPr>
          <p:cNvPr id="73" name="qm-t"/>
          <p:cNvSpPr txBox="1"/>
          <p:nvPr/>
        </p:nvSpPr>
        <p:spPr>
          <a:xfrm>
            <a:off x="5232400" y="4940300"/>
            <a:ext cx="3886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EXTRACTION QUALITY MONITORING</a:t>
            </a:r>
            <a:endParaRPr lang="en-US" sz="7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SME edit patterns refine prompts &amp; models · low-confidence clusters routed for targeted re-review</a:t>
            </a:r>
            <a:endParaRPr lang="en-US" sz="700" noProof="1"/>
          </a:p>
        </p:txBody>
      </p:sp>
      <p:sp>
        <p:nvSpPr>
          <p:cNvPr id="74" name="arr-il"/>
          <p:cNvSpPr/>
          <p:nvPr>
            <p:extLst>
              <p:ext uri="{F5677B7D-0D2A-4D9B-9A5C-6D8D7D0E5A5D}">
                <pptd:line encoding="base64url">eyJ2aWV3Qm94IjpbOCw4XSwicG9pbnRzIjoiMCw0IDgsNCIsImN1cnZlIjoic2hhcnAifQ</pptd:line>
              </p:ext>
            </p:extLst>
          </p:nvPr>
        </p:nvSpPr>
        <p:spPr>
          <a:xfrm>
            <a:off x="4038600" y="2349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4"/>
                </a:moveTo>
                <a:lnTo>
                  <a:pt x="8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75" name="arr-lt"/>
          <p:cNvSpPr/>
          <p:nvPr>
            <p:extLst>
              <p:ext uri="{F5677B7D-0D2A-4D9B-9A5C-6D8D7D0E5A5D}">
                <pptd:line encoding="base64url">eyJ2aWV3Qm94IjpbMTIsOF0sInBvaW50cyI6IjAsNCAxMiw0IiwiY3VydmUiOiJzaGFycCJ9</pptd:line>
              </p:ext>
            </p:extLst>
          </p:nvPr>
        </p:nvSpPr>
        <p:spPr>
          <a:xfrm>
            <a:off x="4978400" y="2235200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0" y="4"/>
                </a:moveTo>
                <a:lnTo>
                  <a:pt x="12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76" name="arr-tl"/>
          <p:cNvSpPr/>
          <p:nvPr>
            <p:extLst>
              <p:ext uri="{F5677B7D-0D2A-4D9B-9A5C-6D8D7D0E5A5D}">
                <pptd:line encoding="base64url">eyJ2aWV3Qm94IjpbOCw4XSwicG9pbnRzIjoiMCw0IDgsNCIsImN1cnZlIjoic2hhcnAifQ</pptd:line>
              </p:ext>
            </p:extLst>
          </p:nvPr>
        </p:nvSpPr>
        <p:spPr>
          <a:xfrm>
            <a:off x="7035800" y="2286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4"/>
                </a:moveTo>
                <a:lnTo>
                  <a:pt x="8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77" name="arr-ls"/>
          <p:cNvSpPr/>
          <p:nvPr>
            <p:extLst>
              <p:ext uri="{F5677B7D-0D2A-4D9B-9A5C-6D8D7D0E5A5D}">
                <pptd:line encoding="base64url">eyJ2aWV3Qm94IjpbOCwxMl0sInBvaW50cyI6IjQsMCA0LDEyIiwiY3VydmUiOiJzaGFycCJ9</pptd:line>
              </p:ext>
            </p:extLst>
          </p:nvPr>
        </p:nvSpPr>
        <p:spPr>
          <a:xfrm>
            <a:off x="8077200" y="3708400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8" h="12">
                <a:moveTo>
                  <a:pt x="4" y="0"/>
                </a:moveTo>
                <a:lnTo>
                  <a:pt x="4" y="12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78" name="platform-panel"/>
          <p:cNvSpPr/>
          <p:nvPr/>
        </p:nvSpPr>
        <p:spPr>
          <a:xfrm>
            <a:off x="9372600" y="914400"/>
            <a:ext cx="3149600" cy="5791200"/>
          </a:xfrm>
          <a:prstGeom prst="rect">
            <a:avLst/>
          </a:prstGeom>
          <a:solidFill>
            <a:srgbClr val="F5F2EC"/>
          </a:solidFill>
          <a:ln w="12700">
            <a:solidFill>
              <a:srgbClr val="DCD5C6"/>
            </a:solidFill>
          </a:ln>
        </p:spPr>
      </p:sp>
      <p:sp>
        <p:nvSpPr>
          <p:cNvPr id="79" name="pf1-b"/>
          <p:cNvSpPr/>
          <p:nvPr/>
        </p:nvSpPr>
        <p:spPr>
          <a:xfrm>
            <a:off x="9474200" y="10668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80" name="pf1-t"/>
          <p:cNvSpPr txBox="1"/>
          <p:nvPr/>
        </p:nvSpPr>
        <p:spPr>
          <a:xfrm>
            <a:off x="9575800" y="11303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Knowledge Repository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Raw + contextualized knowledge assets</a:t>
            </a:r>
            <a:endParaRPr lang="en-US" sz="1600" noProof="1"/>
          </a:p>
        </p:txBody>
      </p:sp>
      <p:sp>
        <p:nvSpPr>
          <p:cNvPr id="81" name="pf2-b"/>
          <p:cNvSpPr/>
          <p:nvPr/>
        </p:nvSpPr>
        <p:spPr>
          <a:xfrm>
            <a:off x="9474200" y="18796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82" name="pf2-t"/>
          <p:cNvSpPr txBox="1"/>
          <p:nvPr/>
        </p:nvSpPr>
        <p:spPr>
          <a:xfrm>
            <a:off x="9575800" y="19431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Profisee Metadata &amp; Taxonomy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Common metadata spine — one taxonomy for every source</a:t>
            </a:r>
            <a:endParaRPr lang="en-US" sz="1600" noProof="1"/>
          </a:p>
        </p:txBody>
      </p:sp>
      <p:sp>
        <p:nvSpPr>
          <p:cNvPr id="83" name="pf3-b"/>
          <p:cNvSpPr/>
          <p:nvPr/>
        </p:nvSpPr>
        <p:spPr>
          <a:xfrm>
            <a:off x="9474200" y="2692400"/>
            <a:ext cx="29464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A7B4"/>
            </a:solidFill>
          </a:ln>
        </p:spPr>
      </p:sp>
      <p:sp>
        <p:nvSpPr>
          <p:cNvPr id="84" name="pf3-t"/>
          <p:cNvSpPr txBox="1"/>
          <p:nvPr/>
        </p:nvSpPr>
        <p:spPr>
          <a:xfrm>
            <a:off x="9575800" y="27559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Knowledge Graph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Decisions ↔ lessons ↔ outcomes ↔ assets ↔ SMEs — answers "have we seen this before?"</a:t>
            </a:r>
            <a:endParaRPr lang="en-US" sz="1600" noProof="1"/>
          </a:p>
        </p:txBody>
      </p:sp>
      <p:sp>
        <p:nvSpPr>
          <p:cNvPr id="85" name="pf4-b"/>
          <p:cNvSpPr/>
          <p:nvPr/>
        </p:nvSpPr>
        <p:spPr>
          <a:xfrm>
            <a:off x="9474200" y="36068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86" name="pf4-t"/>
          <p:cNvSpPr txBox="1"/>
          <p:nvPr/>
        </p:nvSpPr>
        <p:spPr>
          <a:xfrm>
            <a:off x="9575800" y="36703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Vector Index + Keyword Index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Metadata-carrying embeddings for semantic search</a:t>
            </a:r>
            <a:endParaRPr lang="en-US" sz="1600" noProof="1"/>
          </a:p>
        </p:txBody>
      </p:sp>
      <p:sp>
        <p:nvSpPr>
          <p:cNvPr id="87" name="pf5-b"/>
          <p:cNvSpPr/>
          <p:nvPr/>
        </p:nvSpPr>
        <p:spPr>
          <a:xfrm>
            <a:off x="9474200" y="44196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88" name="pf5-t"/>
          <p:cNvSpPr txBox="1"/>
          <p:nvPr/>
        </p:nvSpPr>
        <p:spPr>
          <a:xfrm>
            <a:off x="9575800" y="44831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Hybrid Retrieval &amp; Ranking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Semantic + keyword + graph traversal, fused &amp; ranked</a:t>
            </a:r>
            <a:endParaRPr lang="en-US" sz="1600" noProof="1"/>
          </a:p>
        </p:txBody>
      </p:sp>
      <p:sp>
        <p:nvSpPr>
          <p:cNvPr id="89" name="pf6-b"/>
          <p:cNvSpPr/>
          <p:nvPr/>
        </p:nvSpPr>
        <p:spPr>
          <a:xfrm>
            <a:off x="9474200" y="52324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90" name="pf6-t"/>
          <p:cNvSpPr txBox="1"/>
          <p:nvPr/>
        </p:nvSpPr>
        <p:spPr>
          <a:xfrm>
            <a:off x="9575800" y="52959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Quality &amp; Confidence Layer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Every asset tiered High / Medium / Low — shown at consumption</a:t>
            </a:r>
            <a:endParaRPr lang="en-US" sz="1600" noProof="1"/>
          </a:p>
        </p:txBody>
      </p:sp>
      <p:sp>
        <p:nvSpPr>
          <p:cNvPr id="91" name="pf-note-b"/>
          <p:cNvSpPr/>
          <p:nvPr/>
        </p:nvSpPr>
        <p:spPr>
          <a:xfrm>
            <a:off x="9474200" y="6045200"/>
            <a:ext cx="2946400" cy="558800"/>
          </a:xfrm>
          <a:prstGeom prst="rect">
            <a:avLst/>
          </a:prstGeom>
          <a:noFill/>
          <a:ln w="12700">
            <a:solidFill>
              <a:srgbClr val="C3CCC6"/>
            </a:solidFill>
            <a:prstDash val="dash"/>
          </a:ln>
        </p:spPr>
      </p:sp>
      <p:sp>
        <p:nvSpPr>
          <p:cNvPr id="92" name="pf-note-t"/>
          <p:cNvSpPr txBox="1"/>
          <p:nvPr/>
        </p:nvSpPr>
        <p:spPr>
          <a:xfrm>
            <a:off x="9575800" y="60960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650" noProof="1" b="1">
                <a:solidFill>
                  <a:srgbClr val="8C9390"/>
                </a:solidFill>
                <a:latin typeface="MiSans"/>
                <a:ea typeface="MiSans"/>
              </a:rPr>
              <a:t>Persistent source links</a:t>
            </a: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 — every asset cites its raw artifact (page / section / timestamp)</a:t>
            </a:r>
            <a:endParaRPr lang="en-US" sz="650" noProof="1"/>
          </a:p>
        </p:txBody>
      </p:sp>
      <p:sp>
        <p:nvSpPr>
          <p:cNvPr id="93" name="ac1-b"/>
          <p:cNvSpPr/>
          <p:nvPr/>
        </p:nvSpPr>
        <p:spPr>
          <a:xfrm>
            <a:off x="12674600" y="965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94" name="ac1-t"/>
          <p:cNvSpPr txBox="1"/>
          <p:nvPr/>
        </p:nvSpPr>
        <p:spPr>
          <a:xfrm>
            <a:off x="12725400" y="1016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Faceted Search UI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Domain · region · tier</a:t>
            </a:r>
            <a:endParaRPr lang="en-US" sz="1600" noProof="1"/>
          </a:p>
        </p:txBody>
      </p:sp>
      <p:sp>
        <p:nvSpPr>
          <p:cNvPr id="95" name="ac2-b"/>
          <p:cNvSpPr/>
          <p:nvPr/>
        </p:nvSpPr>
        <p:spPr>
          <a:xfrm>
            <a:off x="12674600" y="1727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96" name="ac2-t"/>
          <p:cNvSpPr txBox="1"/>
          <p:nvPr/>
        </p:nvSpPr>
        <p:spPr>
          <a:xfrm>
            <a:off x="12725400" y="1778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Q&amp;A Assistant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Citations + confidence badges</a:t>
            </a:r>
            <a:endParaRPr lang="en-US" sz="1600" noProof="1"/>
          </a:p>
        </p:txBody>
      </p:sp>
      <p:sp>
        <p:nvSpPr>
          <p:cNvPr id="97" name="ac3-b"/>
          <p:cNvSpPr/>
          <p:nvPr/>
        </p:nvSpPr>
        <p:spPr>
          <a:xfrm>
            <a:off x="12674600" y="2489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98" name="ac3-t"/>
          <p:cNvSpPr txBox="1"/>
          <p:nvPr/>
        </p:nvSpPr>
        <p:spPr>
          <a:xfrm>
            <a:off x="12725400" y="2540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APIs / MCP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Knowledge for other tools</a:t>
            </a:r>
            <a:endParaRPr lang="en-US" sz="1600" noProof="1"/>
          </a:p>
        </p:txBody>
      </p:sp>
      <p:sp>
        <p:nvSpPr>
          <p:cNvPr id="99" name="ac4-b"/>
          <p:cNvSpPr/>
          <p:nvPr/>
        </p:nvSpPr>
        <p:spPr>
          <a:xfrm>
            <a:off x="12674600" y="3251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0" name="ac4-t"/>
          <p:cNvSpPr txBox="1"/>
          <p:nvPr/>
        </p:nvSpPr>
        <p:spPr>
          <a:xfrm>
            <a:off x="12725400" y="3302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Subscriptions &amp; Alerts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New lessons in your domain</a:t>
            </a:r>
            <a:endParaRPr lang="en-US" sz="1600" noProof="1"/>
          </a:p>
        </p:txBody>
      </p:sp>
      <p:sp>
        <p:nvSpPr>
          <p:cNvPr id="101" name="ac5-b"/>
          <p:cNvSpPr/>
          <p:nvPr/>
        </p:nvSpPr>
        <p:spPr>
          <a:xfrm>
            <a:off x="12674600" y="4013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2" name="ac5-t"/>
          <p:cNvSpPr txBox="1"/>
          <p:nvPr/>
        </p:nvSpPr>
        <p:spPr>
          <a:xfrm>
            <a:off x="12725400" y="4064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Usage Feedback Capture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Ratings &amp; decision signals</a:t>
            </a:r>
            <a:endParaRPr lang="en-US" sz="1600" noProof="1"/>
          </a:p>
        </p:txBody>
      </p:sp>
      <p:sp>
        <p:nvSpPr>
          <p:cNvPr id="103" name="cn1-b"/>
          <p:cNvSpPr/>
          <p:nvPr/>
        </p:nvSpPr>
        <p:spPr>
          <a:xfrm>
            <a:off x="14198600" y="965200"/>
            <a:ext cx="1905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4" name="cn1-t"/>
          <p:cNvSpPr txBox="1"/>
          <p:nvPr/>
        </p:nvSpPr>
        <p:spPr>
          <a:xfrm>
            <a:off x="14300200" y="1028700"/>
            <a:ext cx="170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Planning &amp; Scheduling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LP / DPO teams</a:t>
            </a:r>
            <a:endParaRPr lang="en-US" sz="1600" noProof="1"/>
          </a:p>
        </p:txBody>
      </p:sp>
      <p:sp>
        <p:nvSpPr>
          <p:cNvPr id="105" name="cn2-b"/>
          <p:cNvSpPr/>
          <p:nvPr/>
        </p:nvSpPr>
        <p:spPr>
          <a:xfrm>
            <a:off x="14198600" y="1778000"/>
            <a:ext cx="1905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6" name="cn2-t"/>
          <p:cNvSpPr txBox="1"/>
          <p:nvPr/>
        </p:nvSpPr>
        <p:spPr>
          <a:xfrm>
            <a:off x="14300200" y="1841500"/>
            <a:ext cx="170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Backcast &amp; Lookback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Lessons fed into the next cycle</a:t>
            </a:r>
            <a:endParaRPr lang="en-US" sz="1600" noProof="1"/>
          </a:p>
        </p:txBody>
      </p:sp>
      <p:sp>
        <p:nvSpPr>
          <p:cNvPr id="107" name="cn3-b"/>
          <p:cNvSpPr/>
          <p:nvPr/>
        </p:nvSpPr>
        <p:spPr>
          <a:xfrm>
            <a:off x="14198600" y="2590800"/>
            <a:ext cx="1905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8" name="cn3-t"/>
          <p:cNvSpPr txBox="1"/>
          <p:nvPr/>
        </p:nvSpPr>
        <p:spPr>
          <a:xfrm>
            <a:off x="14300200" y="2654300"/>
            <a:ext cx="170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CI Leadership Reviews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Recurring reporting &amp; decisions</a:t>
            </a:r>
            <a:endParaRPr lang="en-US" sz="1600" noProof="1"/>
          </a:p>
        </p:txBody>
      </p:sp>
      <p:sp>
        <p:nvSpPr>
          <p:cNvPr id="109" name="cn4-b"/>
          <p:cNvSpPr/>
          <p:nvPr/>
        </p:nvSpPr>
        <p:spPr>
          <a:xfrm>
            <a:off x="14198600" y="3403600"/>
            <a:ext cx="1905000" cy="711200"/>
          </a:xfrm>
          <a:prstGeom prst="rect">
            <a:avLst/>
          </a:prstGeom>
          <a:noFill/>
          <a:ln w="12700">
            <a:solidFill>
              <a:srgbClr val="D9A7B4"/>
            </a:solidFill>
            <a:prstDash val="dash"/>
          </a:ln>
        </p:spPr>
      </p:sp>
      <p:sp>
        <p:nvSpPr>
          <p:cNvPr id="110" name="cn4-t"/>
          <p:cNvSpPr txBox="1"/>
          <p:nvPr/>
        </p:nvSpPr>
        <p:spPr>
          <a:xfrm>
            <a:off x="14300200" y="3467100"/>
            <a:ext cx="170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Decision-Support Agents</a:t>
            </a:r>
            <a:r>
              <a:rPr lang="en-US" sz="650" noProof="1">
                <a:solidFill>
                  <a:srgbClr val="D9A7B4"/>
                </a:solidFill>
                <a:latin typeface="MiSans"/>
                <a:ea typeface="MiSans"/>
              </a:rPr>
              <a:t>  FUTURE PHASE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Proactive lesson surfacing · gap detection</a:t>
            </a:r>
            <a:endParaRPr lang="en-US" sz="1600" noProof="1"/>
          </a:p>
        </p:txBody>
      </p:sp>
      <p:sp>
        <p:nvSpPr>
          <p:cNvPr id="111" name="arr-cp"/>
          <p:cNvSpPr/>
          <p:nvPr>
            <p:extLst>
              <p:ext uri="{F5677B7D-0D2A-4D9B-9A5C-6D8D7D0E5A5D}">
                <pptd:line encoding="base64url">eyJ2aWV3Qm94IjpbMTQsOF0sInBvaW50cyI6IjAsNCAxNCw0IiwiY3VydmUiOiJzaGFycCJ9</pptd:line>
              </p:ext>
            </p:extLst>
          </p:nvPr>
        </p:nvSpPr>
        <p:spPr>
          <a:xfrm>
            <a:off x="9245600" y="3429000"/>
            <a:ext cx="177800" cy="101600"/>
          </a:xfrm>
          <a:custGeom>
            <a:avLst/>
            <a:gdLst/>
            <a:ahLst/>
            <a:cxnLst/>
            <a:rect l="l" t="t" r="r" b="b"/>
            <a:pathLst>
              <a:path w="14" h="8">
                <a:moveTo>
                  <a:pt x="0" y="4"/>
                </a:moveTo>
                <a:lnTo>
                  <a:pt x="14" y="4"/>
                </a:lnTo>
              </a:path>
            </a:pathLst>
          </a:custGeom>
          <a:noFill/>
          <a:ln w="31750">
            <a:solidFill>
              <a:srgbClr val="2E3A45"/>
            </a:solidFill>
            <a:tailEnd type="stealth"/>
          </a:ln>
        </p:spPr>
      </p:sp>
      <p:sp>
        <p:nvSpPr>
          <p:cNvPr id="112" name="arr-pa"/>
          <p:cNvSpPr/>
          <p:nvPr>
            <p:extLst>
              <p:ext uri="{F5677B7D-0D2A-4D9B-9A5C-6D8D7D0E5A5D}">
                <pptd:line encoding="base64url">eyJ2aWV3Qm94IjpbMTIsOF0sInBvaW50cyI6IjAsNCAxMiw0IiwiY3VydmUiOiJzaGFycCJ9</pptd:line>
              </p:ext>
            </p:extLst>
          </p:nvPr>
        </p:nvSpPr>
        <p:spPr>
          <a:xfrm>
            <a:off x="12522200" y="3429000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0" y="4"/>
                </a:moveTo>
                <a:lnTo>
                  <a:pt x="12" y="4"/>
                </a:lnTo>
              </a:path>
            </a:pathLst>
          </a:custGeom>
          <a:noFill/>
          <a:ln w="31750">
            <a:solidFill>
              <a:srgbClr val="2E3A45"/>
            </a:solidFill>
            <a:tailEnd type="stealth"/>
          </a:ln>
        </p:spPr>
      </p:sp>
      <p:sp>
        <p:nvSpPr>
          <p:cNvPr id="113" name="arr-ac"/>
          <p:cNvSpPr/>
          <p:nvPr>
            <p:extLst>
              <p:ext uri="{F5677B7D-0D2A-4D9B-9A5C-6D8D7D0E5A5D}">
                <pptd:line encoding="base64url">eyJ2aWV3Qm94IjpbMTIsOF0sInBvaW50cyI6IjAsNCAxMiw0IiwiY3VydmUiOiJzaGFycCJ9</pptd:line>
              </p:ext>
            </p:extLst>
          </p:nvPr>
        </p:nvSpPr>
        <p:spPr>
          <a:xfrm>
            <a:off x="14046200" y="3429000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0" y="4"/>
                </a:moveTo>
                <a:lnTo>
                  <a:pt x="12" y="4"/>
                </a:lnTo>
              </a:path>
            </a:pathLst>
          </a:custGeom>
          <a:noFill/>
          <a:ln w="31750">
            <a:solidFill>
              <a:srgbClr val="2E3A45"/>
            </a:solidFill>
            <a:tailEnd type="stealth"/>
          </a:ln>
        </p:spPr>
      </p:sp>
      <p:sp>
        <p:nvSpPr>
          <p:cNvPr id="114" name="feedback-line"/>
          <p:cNvSpPr/>
          <p:nvPr>
            <p:extLst>
              <p:ext uri="{F5677B7D-0D2A-4D9B-9A5C-6D8D7D0E5A5D}">
                <pptd:line encoding="base64url">eyJ2aWV3Qm94IjpbNDkwLDE3NF0sInBvaW50cyI6IjQ5MCwwIDQ5MCwxNzQgMCwxNzQgMCwxMCIsImN1cnZlIjoic2hhcnAifQ</pptd:line>
              </p:ext>
            </p:extLst>
          </p:nvPr>
        </p:nvSpPr>
        <p:spPr>
          <a:xfrm>
            <a:off x="7112000" y="4673600"/>
            <a:ext cx="6223000" cy="2209800"/>
          </a:xfrm>
          <a:custGeom>
            <a:avLst/>
            <a:gdLst/>
            <a:ahLst/>
            <a:cxnLst/>
            <a:rect l="l" t="t" r="r" b="b"/>
            <a:pathLst>
              <a:path w="490" h="174">
                <a:moveTo>
                  <a:pt x="490" y="0"/>
                </a:moveTo>
                <a:lnTo>
                  <a:pt x="490" y="174"/>
                </a:lnTo>
                <a:lnTo>
                  <a:pt x="0" y="174"/>
                </a:lnTo>
                <a:lnTo>
                  <a:pt x="0" y="10"/>
                </a:lnTo>
              </a:path>
            </a:pathLst>
          </a:custGeom>
          <a:noFill/>
          <a:ln w="15240">
            <a:solidFill>
              <a:srgbClr val="8C9390"/>
            </a:solidFill>
            <a:prstDash val="dash"/>
            <a:tailEnd type="arrow"/>
          </a:ln>
        </p:spPr>
      </p:sp>
      <p:sp>
        <p:nvSpPr>
          <p:cNvPr id="115" name="feedback-label"/>
          <p:cNvSpPr txBox="1"/>
          <p:nvPr/>
        </p:nvSpPr>
        <p:spPr>
          <a:xfrm>
            <a:off x="7874000" y="6731000"/>
            <a:ext cx="482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8C9390"/>
                </a:solidFill>
                <a:latin typeface="MiSans"/>
                <a:ea typeface="MiSans"/>
              </a:rPr>
              <a:t>feedback — usefulness ratings · SME corrections · gap signals → re-curation</a:t>
            </a:r>
            <a:endParaRPr lang="en-US" sz="750" noProof="1"/>
          </a:p>
        </p:txBody>
      </p:sp>
      <p:sp>
        <p:nvSpPr>
          <p:cNvPr id="116" name="band-panel"/>
          <p:cNvSpPr/>
          <p:nvPr/>
        </p:nvSpPr>
        <p:spPr>
          <a:xfrm>
            <a:off x="152400" y="7061200"/>
            <a:ext cx="15951200" cy="965200"/>
          </a:xfrm>
          <a:prstGeom prst="rect">
            <a:avLst/>
          </a:prstGeom>
          <a:solidFill>
            <a:srgbClr val="F9E8EC"/>
          </a:solidFill>
          <a:ln w="12700">
            <a:solidFill>
              <a:srgbClr val="D9A7B4"/>
            </a:solidFill>
          </a:ln>
        </p:spPr>
      </p:sp>
      <p:sp>
        <p:nvSpPr>
          <p:cNvPr id="117" name="c5-circle"/>
          <p:cNvSpPr/>
          <p:nvPr/>
        </p:nvSpPr>
        <p:spPr>
          <a:xfrm>
            <a:off x="228600" y="71374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118" name="c5-num"/>
          <p:cNvSpPr txBox="1"/>
          <p:nvPr/>
        </p:nvSpPr>
        <p:spPr>
          <a:xfrm>
            <a:off x="228600" y="7137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5</a:t>
            </a:r>
            <a:endParaRPr lang="en-US" sz="950" noProof="1"/>
          </a:p>
        </p:txBody>
      </p:sp>
      <p:sp>
        <p:nvSpPr>
          <p:cNvPr id="119" name="band-header"/>
          <p:cNvSpPr txBox="1"/>
          <p:nvPr/>
        </p:nvSpPr>
        <p:spPr>
          <a:xfrm>
            <a:off x="558800" y="7162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2E3A45"/>
                </a:solidFill>
                <a:latin typeface="MiSans"/>
                <a:ea typeface="MiSans"/>
              </a:rPr>
              <a:t>Common Platform Services — built once, applied across every stage</a:t>
            </a:r>
            <a:endParaRPr lang="en-US" sz="950" noProof="1"/>
          </a:p>
        </p:txBody>
      </p:sp>
      <p:sp>
        <p:nvSpPr>
          <p:cNvPr id="120" name="bs1-b"/>
          <p:cNvSpPr/>
          <p:nvPr/>
        </p:nvSpPr>
        <p:spPr>
          <a:xfrm>
            <a:off x="6096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1" name="bs1-t"/>
          <p:cNvSpPr txBox="1"/>
          <p:nvPr/>
        </p:nvSpPr>
        <p:spPr>
          <a:xfrm>
            <a:off x="7112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Governance &amp; Lifecycle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States · refresh triggers · archival · escalation</a:t>
            </a:r>
            <a:endParaRPr lang="en-US" sz="1600" noProof="1"/>
          </a:p>
        </p:txBody>
      </p:sp>
      <p:sp>
        <p:nvSpPr>
          <p:cNvPr id="122" name="bs2-b"/>
          <p:cNvSpPr/>
          <p:nvPr/>
        </p:nvSpPr>
        <p:spPr>
          <a:xfrm>
            <a:off x="31750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3" name="bs2-t"/>
          <p:cNvSpPr txBox="1"/>
          <p:nvPr/>
        </p:nvSpPr>
        <p:spPr>
          <a:xfrm>
            <a:off x="32766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Quality-Tier &amp; Confidence Model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Authoritative vs. indicative sources</a:t>
            </a:r>
            <a:endParaRPr lang="en-US" sz="1600" noProof="1"/>
          </a:p>
        </p:txBody>
      </p:sp>
      <p:sp>
        <p:nvSpPr>
          <p:cNvPr id="124" name="bs3-b"/>
          <p:cNvSpPr/>
          <p:nvPr/>
        </p:nvSpPr>
        <p:spPr>
          <a:xfrm>
            <a:off x="57404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5" name="bs3-t"/>
          <p:cNvSpPr txBox="1"/>
          <p:nvPr/>
        </p:nvSpPr>
        <p:spPr>
          <a:xfrm>
            <a:off x="58420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Access Control &amp; Sensitivity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Market-sensitive content handling</a:t>
            </a:r>
            <a:endParaRPr lang="en-US" sz="1600" noProof="1"/>
          </a:p>
        </p:txBody>
      </p:sp>
      <p:sp>
        <p:nvSpPr>
          <p:cNvPr id="126" name="bs4-b"/>
          <p:cNvSpPr/>
          <p:nvPr/>
        </p:nvSpPr>
        <p:spPr>
          <a:xfrm>
            <a:off x="83058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7" name="bs4-t"/>
          <p:cNvSpPr txBox="1"/>
          <p:nvPr/>
        </p:nvSpPr>
        <p:spPr>
          <a:xfrm>
            <a:off x="84074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Audit &amp; Versioning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Full lineage &amp; change history</a:t>
            </a:r>
            <a:endParaRPr lang="en-US" sz="1600" noProof="1"/>
          </a:p>
        </p:txBody>
      </p:sp>
      <p:sp>
        <p:nvSpPr>
          <p:cNvPr id="128" name="bs5-b"/>
          <p:cNvSpPr/>
          <p:nvPr/>
        </p:nvSpPr>
        <p:spPr>
          <a:xfrm>
            <a:off x="108712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9" name="bs5-t"/>
          <p:cNvSpPr txBox="1"/>
          <p:nvPr/>
        </p:nvSpPr>
        <p:spPr>
          <a:xfrm>
            <a:off x="109728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Continuous Improvement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SME corrections → prompts &amp; models</a:t>
            </a:r>
            <a:endParaRPr lang="en-US" sz="1600" noProof="1"/>
          </a:p>
        </p:txBody>
      </p:sp>
      <p:sp>
        <p:nvSpPr>
          <p:cNvPr id="130" name="bs6-b"/>
          <p:cNvSpPr/>
          <p:nvPr/>
        </p:nvSpPr>
        <p:spPr>
          <a:xfrm>
            <a:off x="134366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31" name="bs6-t"/>
          <p:cNvSpPr txBox="1"/>
          <p:nvPr/>
        </p:nvSpPr>
        <p:spPr>
          <a:xfrm>
            <a:off x="135382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Monitoring &amp; Ops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Pipeline health &amp; ingestion status</a:t>
            </a:r>
            <a:endParaRPr lang="en-US" sz="16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2-title"/>
          <p:cNvSpPr txBox="1"/>
          <p:nvPr/>
        </p:nvSpPr>
        <p:spPr>
          <a:xfrm>
            <a:off x="1206500" y="304800"/>
            <a:ext cx="77470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C2B3A"/>
                </a:solidFill>
                <a:latin typeface="MiSans"/>
                <a:ea typeface="MiSans"/>
              </a:rPr>
              <a:t>KM – Illustrative End-to-End Conceptual Architecture</a:t>
            </a:r>
            <a:endParaRPr lang="en-US" sz="2200" noProof="1"/>
          </a:p>
        </p:txBody>
      </p:sp>
      <p:sp>
        <p:nvSpPr>
          <p:cNvPr id="3" name="p2-hdr-sources"/>
          <p:cNvSpPr txBox="1"/>
          <p:nvPr/>
        </p:nvSpPr>
        <p:spPr>
          <a:xfrm>
            <a:off x="863600" y="1270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2E3A45"/>
                </a:solidFill>
                <a:latin typeface="MiSans"/>
                <a:ea typeface="MiSans"/>
              </a:rPr>
              <a:t>CI Knowledge Sources</a:t>
            </a:r>
            <a:endParaRPr lang="en-US" sz="1200" noProof="1"/>
          </a:p>
        </p:txBody>
      </p:sp>
      <p:sp>
        <p:nvSpPr>
          <p:cNvPr id="4" name="p2-hdr-feeds"/>
          <p:cNvSpPr txBox="1"/>
          <p:nvPr/>
        </p:nvSpPr>
        <p:spPr>
          <a:xfrm>
            <a:off x="2692400" y="1270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2E3A45"/>
                </a:solidFill>
                <a:latin typeface="MiSans"/>
                <a:ea typeface="MiSans"/>
              </a:rPr>
              <a:t>Feeds</a:t>
            </a:r>
            <a:endParaRPr lang="en-US" sz="1200" noProof="1"/>
          </a:p>
        </p:txBody>
      </p:sp>
      <p:sp>
        <p:nvSpPr>
          <p:cNvPr id="5" name="p2-hdr-ingest"/>
          <p:cNvSpPr txBox="1"/>
          <p:nvPr/>
        </p:nvSpPr>
        <p:spPr>
          <a:xfrm>
            <a:off x="4864100" y="12700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2E3A45"/>
                </a:solidFill>
                <a:latin typeface="MiSans"/>
                <a:ea typeface="MiSans"/>
              </a:rPr>
              <a:t>Ingestion &amp; AI Data Processing</a:t>
            </a:r>
            <a:endParaRPr lang="en-US" sz="1200" noProof="1"/>
          </a:p>
        </p:txBody>
      </p:sp>
      <p:sp>
        <p:nvSpPr>
          <p:cNvPr id="6" name="p2-hdr-platform"/>
          <p:cNvSpPr txBox="1"/>
          <p:nvPr/>
        </p:nvSpPr>
        <p:spPr>
          <a:xfrm>
            <a:off x="9232900" y="1270000"/>
            <a:ext cx="28575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2E3A45"/>
                </a:solidFill>
                <a:latin typeface="MiSans"/>
                <a:ea typeface="MiSans"/>
              </a:rPr>
              <a:t>Governed Knowledge Platform</a:t>
            </a:r>
            <a:endParaRPr lang="en-US" sz="1200" noProof="1"/>
          </a:p>
        </p:txBody>
      </p:sp>
      <p:sp>
        <p:nvSpPr>
          <p:cNvPr id="7" name="p2-hdr-delivery"/>
          <p:cNvSpPr txBox="1"/>
          <p:nvPr/>
        </p:nvSpPr>
        <p:spPr>
          <a:xfrm>
            <a:off x="12230100" y="1270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2E3A45"/>
                </a:solidFill>
                <a:latin typeface="MiSans"/>
                <a:ea typeface="MiSans"/>
              </a:rPr>
              <a:t>Delivery Method</a:t>
            </a:r>
            <a:endParaRPr lang="en-US" sz="1200" noProof="1"/>
          </a:p>
        </p:txBody>
      </p:sp>
      <p:sp>
        <p:nvSpPr>
          <p:cNvPr id="8" name="p2-hdr-consumers"/>
          <p:cNvSpPr txBox="1"/>
          <p:nvPr/>
        </p:nvSpPr>
        <p:spPr>
          <a:xfrm>
            <a:off x="13614400" y="1270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2E3A45"/>
                </a:solidFill>
                <a:latin typeface="MiSans"/>
                <a:ea typeface="MiSans"/>
              </a:rPr>
              <a:t>Consumers</a:t>
            </a:r>
            <a:endParaRPr lang="en-US" sz="1200" noProof="1"/>
          </a:p>
        </p:txBody>
      </p:sp>
      <p:sp>
        <p:nvSpPr>
          <p:cNvPr id="9" name="p2-ingest-panel"/>
          <p:cNvSpPr/>
          <p:nvPr/>
        </p:nvSpPr>
        <p:spPr>
          <a:xfrm>
            <a:off x="3530600" y="1447800"/>
            <a:ext cx="5613400" cy="3822700"/>
          </a:xfrm>
          <a:prstGeom prst="rect">
            <a:avLst/>
          </a:prstGeom>
          <a:solidFill>
            <a:srgbClr val="F5F2EC"/>
          </a:solidFill>
          <a:ln w="12700">
            <a:solidFill>
              <a:srgbClr val="E3DED2"/>
            </a:solidFill>
          </a:ln>
        </p:spPr>
      </p:sp>
      <p:sp>
        <p:nvSpPr>
          <p:cNvPr id="10" name="p2-platform-panel"/>
          <p:cNvSpPr/>
          <p:nvPr/>
        </p:nvSpPr>
        <p:spPr>
          <a:xfrm>
            <a:off x="9232900" y="1447800"/>
            <a:ext cx="2832100" cy="4508500"/>
          </a:xfrm>
          <a:prstGeom prst="rect">
            <a:avLst/>
          </a:prstGeom>
          <a:solidFill>
            <a:srgbClr val="F5F2EC"/>
          </a:solidFill>
          <a:ln w="12700">
            <a:solidFill>
              <a:srgbClr val="E3DED2"/>
            </a:solidFill>
          </a:ln>
        </p:spPr>
      </p:sp>
      <p:sp>
        <p:nvSpPr>
          <p:cNvPr id="11" name="p2-lbl-ingestion"/>
          <p:cNvSpPr txBox="1"/>
          <p:nvPr/>
        </p:nvSpPr>
        <p:spPr>
          <a:xfrm>
            <a:off x="3619500" y="1536700"/>
            <a:ext cx="7493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2E3A45"/>
                </a:solidFill>
                <a:latin typeface="MiSans"/>
                <a:ea typeface="MiSans"/>
              </a:rPr>
              <a:t>Ingestion</a:t>
            </a:r>
            <a:endParaRPr lang="en-US" sz="950" noProof="1"/>
          </a:p>
        </p:txBody>
      </p:sp>
      <p:sp>
        <p:nvSpPr>
          <p:cNvPr id="12" name="p2-lbl-landing"/>
          <p:cNvSpPr txBox="1"/>
          <p:nvPr/>
        </p:nvSpPr>
        <p:spPr>
          <a:xfrm>
            <a:off x="4470400" y="1536700"/>
            <a:ext cx="7493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2E3A45"/>
                </a:solidFill>
                <a:latin typeface="MiSans"/>
                <a:ea typeface="MiSans"/>
              </a:rPr>
              <a:t>Landing</a:t>
            </a:r>
            <a:endParaRPr lang="en-US" sz="950" noProof="1"/>
          </a:p>
        </p:txBody>
      </p:sp>
      <p:sp>
        <p:nvSpPr>
          <p:cNvPr id="13" name="p2-lbl-processing"/>
          <p:cNvSpPr txBox="1"/>
          <p:nvPr/>
        </p:nvSpPr>
        <p:spPr>
          <a:xfrm>
            <a:off x="6350000" y="15367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2E3A45"/>
                </a:solidFill>
                <a:latin typeface="MiSans"/>
                <a:ea typeface="MiSans"/>
              </a:rPr>
              <a:t>Data Processing</a:t>
            </a:r>
            <a:endParaRPr lang="en-US" sz="950" noProof="1"/>
          </a:p>
        </p:txBody>
      </p:sp>
      <p:sp>
        <p:nvSpPr>
          <p:cNvPr id="14" name="p2-src1-box"/>
          <p:cNvSpPr/>
          <p:nvPr/>
        </p:nvSpPr>
        <p:spPr>
          <a:xfrm>
            <a:off x="863600" y="1517650"/>
            <a:ext cx="171450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5" name="p2-src1-t"/>
          <p:cNvSpPr txBox="1"/>
          <p:nvPr/>
        </p:nvSpPr>
        <p:spPr>
          <a:xfrm>
            <a:off x="952500" y="1555750"/>
            <a:ext cx="133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VCO CI SharePoint</a:t>
            </a:r>
            <a:endParaRPr lang="en-US" sz="85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DPO &amp; LP backcast decks (PDF / PPT)</a:t>
            </a:r>
            <a:endParaRPr lang="en-US" sz="850" noProof="1"/>
          </a:p>
        </p:txBody>
      </p:sp>
      <p:sp>
        <p:nvSpPr>
          <p:cNvPr id="16" name="p2-src1-icon"/>
          <p:cNvSpPr/>
          <p:nvPr>
            <p:extLst>
              <p:ext uri="{F5677B7D-0D2A-4D9B-9A5C-6D8D7D0E5A5D}">
                <pptd:icon encoding="base64url">eyJpY29uTmFtZSI6ImZhczpkaXNwbGF5In0</pptd:icon>
              </p:ext>
            </p:extLst>
          </p:nvPr>
        </p:nvSpPr>
        <p:spPr>
          <a:xfrm>
            <a:off x="2324100" y="160020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2E3A45"/>
          </a:solidFill>
          <a:ln>
            <a:noFill/>
          </a:ln>
        </p:spPr>
      </p:sp>
      <p:sp>
        <p:nvSpPr>
          <p:cNvPr id="17" name="p2-src2-box"/>
          <p:cNvSpPr/>
          <p:nvPr/>
        </p:nvSpPr>
        <p:spPr>
          <a:xfrm>
            <a:off x="863600" y="2159000"/>
            <a:ext cx="171450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8" name="p2-src2-t"/>
          <p:cNvSpPr txBox="1"/>
          <p:nvPr/>
        </p:nvSpPr>
        <p:spPr>
          <a:xfrm>
            <a:off x="952500" y="2197100"/>
            <a:ext cx="133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Value Opportunity Tracker</a:t>
            </a:r>
            <a:endParaRPr lang="en-US" sz="85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SharePoint List / Excel</a:t>
            </a:r>
            <a:endParaRPr lang="en-US" sz="850" noProof="1"/>
          </a:p>
        </p:txBody>
      </p:sp>
      <p:sp>
        <p:nvSpPr>
          <p:cNvPr id="19" name="p2-src2-icon"/>
          <p:cNvSpPr/>
          <p:nvPr>
            <p:extLst>
              <p:ext uri="{F5677B7D-0D2A-4D9B-9A5C-6D8D7D0E5A5D}">
                <pptd:icon encoding="base64url">eyJpY29uTmFtZSI6ImZhczpkaXNwbGF5In0</pptd:icon>
              </p:ext>
            </p:extLst>
          </p:nvPr>
        </p:nvSpPr>
        <p:spPr>
          <a:xfrm>
            <a:off x="2324100" y="224155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2E3A45"/>
          </a:solidFill>
          <a:ln>
            <a:noFill/>
          </a:ln>
        </p:spPr>
      </p:sp>
      <p:sp>
        <p:nvSpPr>
          <p:cNvPr id="20" name="p2-src3-box"/>
          <p:cNvSpPr/>
          <p:nvPr/>
        </p:nvSpPr>
        <p:spPr>
          <a:xfrm>
            <a:off x="863600" y="2879090"/>
            <a:ext cx="171450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21" name="p2-src3-t"/>
          <p:cNvSpPr txBox="1"/>
          <p:nvPr/>
        </p:nvSpPr>
        <p:spPr>
          <a:xfrm>
            <a:off x="952500" y="2917190"/>
            <a:ext cx="133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Planning DB / PIR</a:t>
            </a:r>
            <a:endParaRPr lang="en-US" sz="85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Structured CI data &amp; LPO reports</a:t>
            </a:r>
            <a:endParaRPr lang="en-US" sz="850" noProof="1"/>
          </a:p>
        </p:txBody>
      </p:sp>
      <p:sp>
        <p:nvSpPr>
          <p:cNvPr id="22" name="p2-src3-icon"/>
          <p:cNvSpPr/>
          <p:nvPr>
            <p:extLst>
              <p:ext uri="{F5677B7D-0D2A-4D9B-9A5C-6D8D7D0E5A5D}">
                <pptd:icon encoding="base64url">eyJpY29uTmFtZSI6ImZhczpkaXNwbGF5In0</pptd:icon>
              </p:ext>
            </p:extLst>
          </p:nvPr>
        </p:nvSpPr>
        <p:spPr>
          <a:xfrm>
            <a:off x="2324100" y="296164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2E3A45"/>
          </a:solidFill>
          <a:ln>
            <a:noFill/>
          </a:ln>
        </p:spPr>
      </p:sp>
      <p:sp>
        <p:nvSpPr>
          <p:cNvPr id="23" name="p2-src4-box"/>
          <p:cNvSpPr/>
          <p:nvPr/>
        </p:nvSpPr>
        <p:spPr>
          <a:xfrm>
            <a:off x="863600" y="3521710"/>
            <a:ext cx="171450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24" name="p2-src4-t"/>
          <p:cNvSpPr txBox="1"/>
          <p:nvPr/>
        </p:nvSpPr>
        <p:spPr>
          <a:xfrm>
            <a:off x="952500" y="3559810"/>
            <a:ext cx="133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Email Chains</a:t>
            </a:r>
            <a:endParaRPr lang="en-US" sz="85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Weekly VCO Forecast Updates</a:t>
            </a:r>
            <a:endParaRPr lang="en-US" sz="850" noProof="1"/>
          </a:p>
        </p:txBody>
      </p:sp>
      <p:sp>
        <p:nvSpPr>
          <p:cNvPr id="25" name="p2-src4-icon"/>
          <p:cNvSpPr/>
          <p:nvPr>
            <p:extLst>
              <p:ext uri="{F5677B7D-0D2A-4D9B-9A5C-6D8D7D0E5A5D}">
                <pptd:icon encoding="base64url">eyJpY29uTmFtZSI6ImZhczp1c2VyIn0</pptd:icon>
              </p:ext>
            </p:extLst>
          </p:nvPr>
        </p:nvSpPr>
        <p:spPr>
          <a:xfrm>
            <a:off x="2324100" y="3604260"/>
            <a:ext cx="1651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2E3A45"/>
          </a:solidFill>
          <a:ln>
            <a:noFill/>
          </a:ln>
        </p:spPr>
      </p:sp>
      <p:sp>
        <p:nvSpPr>
          <p:cNvPr id="26" name="p2-src5-box"/>
          <p:cNvSpPr/>
          <p:nvPr/>
        </p:nvSpPr>
        <p:spPr>
          <a:xfrm>
            <a:off x="863600" y="4185920"/>
            <a:ext cx="171450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27" name="p2-src5-t"/>
          <p:cNvSpPr txBox="1"/>
          <p:nvPr/>
        </p:nvSpPr>
        <p:spPr>
          <a:xfrm>
            <a:off x="952500" y="4224020"/>
            <a:ext cx="133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MS Teams</a:t>
            </a:r>
            <a:endParaRPr lang="en-US" sz="85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Meeting recordings &amp; transcripts</a:t>
            </a:r>
            <a:endParaRPr lang="en-US" sz="850" noProof="1"/>
          </a:p>
        </p:txBody>
      </p:sp>
      <p:sp>
        <p:nvSpPr>
          <p:cNvPr id="28" name="p2-src5-icon"/>
          <p:cNvSpPr/>
          <p:nvPr>
            <p:extLst>
              <p:ext uri="{F5677B7D-0D2A-4D9B-9A5C-6D8D7D0E5A5D}">
                <pptd:icon encoding="base64url">eyJpY29uTmFtZSI6ImZhczp1c2VyIn0</pptd:icon>
              </p:ext>
            </p:extLst>
          </p:nvPr>
        </p:nvSpPr>
        <p:spPr>
          <a:xfrm>
            <a:off x="2324100" y="4268470"/>
            <a:ext cx="1651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2E3A45"/>
          </a:solidFill>
          <a:ln>
            <a:noFill/>
          </a:ln>
        </p:spPr>
      </p:sp>
      <p:sp>
        <p:nvSpPr>
          <p:cNvPr id="29" name="p2-src6-box"/>
          <p:cNvSpPr/>
          <p:nvPr/>
        </p:nvSpPr>
        <p:spPr>
          <a:xfrm>
            <a:off x="863600" y="4850130"/>
            <a:ext cx="1714500" cy="5867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30" name="p2-src6-t"/>
          <p:cNvSpPr txBox="1"/>
          <p:nvPr/>
        </p:nvSpPr>
        <p:spPr>
          <a:xfrm>
            <a:off x="952500" y="4888230"/>
            <a:ext cx="133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OneNote &amp; Working Notes</a:t>
            </a:r>
            <a:endParaRPr lang="en-US" sz="85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Informal SME knowledge</a:t>
            </a:r>
            <a:endParaRPr lang="en-US" sz="850" noProof="1"/>
          </a:p>
        </p:txBody>
      </p:sp>
      <p:sp>
        <p:nvSpPr>
          <p:cNvPr id="31" name="p2-src6-icon"/>
          <p:cNvSpPr/>
          <p:nvPr>
            <p:extLst>
              <p:ext uri="{F5677B7D-0D2A-4D9B-9A5C-6D8D7D0E5A5D}">
                <pptd:icon encoding="base64url">eyJpY29uTmFtZSI6ImZhczp1c2VyIn0</pptd:icon>
              </p:ext>
            </p:extLst>
          </p:nvPr>
        </p:nvSpPr>
        <p:spPr>
          <a:xfrm>
            <a:off x="2324100" y="4932680"/>
            <a:ext cx="1651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2E3A45"/>
          </a:solidFill>
          <a:ln>
            <a:noFill/>
          </a:ln>
        </p:spPr>
      </p:sp>
      <p:sp>
        <p:nvSpPr>
          <p:cNvPr id="32" name="p2-feed1-box"/>
          <p:cNvSpPr/>
          <p:nvPr/>
        </p:nvSpPr>
        <p:spPr>
          <a:xfrm>
            <a:off x="2692400" y="1517650"/>
            <a:ext cx="741680" cy="55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33" name="p2-feed1-t"/>
          <p:cNvSpPr txBox="1"/>
          <p:nvPr/>
        </p:nvSpPr>
        <p:spPr>
          <a:xfrm>
            <a:off x="2692400" y="1517650"/>
            <a:ext cx="741680" cy="553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Graph API connectors &amp; PBI Rest API</a:t>
            </a:r>
            <a:endParaRPr lang="en-US" sz="800" noProof="1"/>
          </a:p>
        </p:txBody>
      </p:sp>
      <p:sp>
        <p:nvSpPr>
          <p:cNvPr id="34" name="p2-feed2-box"/>
          <p:cNvSpPr/>
          <p:nvPr/>
        </p:nvSpPr>
        <p:spPr>
          <a:xfrm>
            <a:off x="2692400" y="2170430"/>
            <a:ext cx="741680" cy="55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35" name="p2-feed2-t"/>
          <p:cNvSpPr txBox="1"/>
          <p:nvPr/>
        </p:nvSpPr>
        <p:spPr>
          <a:xfrm>
            <a:off x="2692400" y="2170430"/>
            <a:ext cx="741680" cy="553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Scheduled batch crawl</a:t>
            </a:r>
            <a:endParaRPr lang="en-US" sz="800" noProof="1"/>
          </a:p>
        </p:txBody>
      </p:sp>
      <p:sp>
        <p:nvSpPr>
          <p:cNvPr id="36" name="p2-feed3-box"/>
          <p:cNvSpPr/>
          <p:nvPr/>
        </p:nvSpPr>
        <p:spPr>
          <a:xfrm>
            <a:off x="2692400" y="2813050"/>
            <a:ext cx="741680" cy="55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37" name="p2-feed3-t"/>
          <p:cNvSpPr txBox="1"/>
          <p:nvPr/>
        </p:nvSpPr>
        <p:spPr>
          <a:xfrm>
            <a:off x="2692400" y="2813050"/>
            <a:ext cx="741680" cy="553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Event triggers (new file posted)</a:t>
            </a:r>
            <a:endParaRPr lang="en-US" sz="800" noProof="1"/>
          </a:p>
        </p:txBody>
      </p:sp>
      <p:sp>
        <p:nvSpPr>
          <p:cNvPr id="38" name="p2-feed4-box"/>
          <p:cNvSpPr/>
          <p:nvPr/>
        </p:nvSpPr>
        <p:spPr>
          <a:xfrm>
            <a:off x="2692400" y="3454400"/>
            <a:ext cx="741680" cy="55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39" name="p2-feed4-t"/>
          <p:cNvSpPr txBox="1"/>
          <p:nvPr/>
        </p:nvSpPr>
        <p:spPr>
          <a:xfrm>
            <a:off x="2692400" y="3454400"/>
            <a:ext cx="741680" cy="553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Manual SME upload</a:t>
            </a:r>
            <a:endParaRPr lang="en-US" sz="800" noProof="1"/>
          </a:p>
        </p:txBody>
      </p:sp>
      <p:sp>
        <p:nvSpPr>
          <p:cNvPr id="40" name="p2-ing1-box"/>
          <p:cNvSpPr/>
          <p:nvPr/>
        </p:nvSpPr>
        <p:spPr>
          <a:xfrm>
            <a:off x="3620770" y="1750060"/>
            <a:ext cx="753110" cy="61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41" name="p2-ing1-t"/>
          <p:cNvSpPr txBox="1"/>
          <p:nvPr/>
        </p:nvSpPr>
        <p:spPr>
          <a:xfrm>
            <a:off x="3620770" y="1750060"/>
            <a:ext cx="753110" cy="619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Specific ingestion engines for each source</a:t>
            </a:r>
            <a:endParaRPr lang="en-US" sz="800" noProof="1"/>
          </a:p>
        </p:txBody>
      </p:sp>
      <p:sp>
        <p:nvSpPr>
          <p:cNvPr id="42" name="p2-ing2-box"/>
          <p:cNvSpPr/>
          <p:nvPr/>
        </p:nvSpPr>
        <p:spPr>
          <a:xfrm>
            <a:off x="3620770" y="2468880"/>
            <a:ext cx="753110" cy="61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43" name="p2-ing2-t"/>
          <p:cNvSpPr txBox="1"/>
          <p:nvPr/>
        </p:nvSpPr>
        <p:spPr>
          <a:xfrm>
            <a:off x="3620770" y="2468880"/>
            <a:ext cx="753110" cy="619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Connector framework - push / pull</a:t>
            </a:r>
            <a:endParaRPr lang="en-US" sz="800" noProof="1"/>
          </a:p>
        </p:txBody>
      </p:sp>
      <p:sp>
        <p:nvSpPr>
          <p:cNvPr id="44" name="p2-ing3-box"/>
          <p:cNvSpPr/>
          <p:nvPr/>
        </p:nvSpPr>
        <p:spPr>
          <a:xfrm>
            <a:off x="3620770" y="3177540"/>
            <a:ext cx="753110" cy="61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45" name="p2-ing3-t"/>
          <p:cNvSpPr txBox="1"/>
          <p:nvPr/>
        </p:nvSpPr>
        <p:spPr>
          <a:xfrm>
            <a:off x="3620770" y="3177540"/>
            <a:ext cx="753110" cy="619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Format normalization</a:t>
            </a:r>
            <a:endParaRPr lang="en-US" sz="800" noProof="1"/>
          </a:p>
        </p:txBody>
      </p:sp>
      <p:sp>
        <p:nvSpPr>
          <p:cNvPr id="46" name="p2-ing4-box"/>
          <p:cNvSpPr/>
          <p:nvPr/>
        </p:nvSpPr>
        <p:spPr>
          <a:xfrm>
            <a:off x="3620770" y="3897630"/>
            <a:ext cx="753110" cy="61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47" name="p2-ing4-t"/>
          <p:cNvSpPr txBox="1"/>
          <p:nvPr/>
        </p:nvSpPr>
        <p:spPr>
          <a:xfrm>
            <a:off x="3620770" y="3897630"/>
            <a:ext cx="753110" cy="619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Sensitive-content flagging</a:t>
            </a:r>
            <a:endParaRPr lang="en-US" sz="800" noProof="1"/>
          </a:p>
        </p:txBody>
      </p:sp>
      <p:sp>
        <p:nvSpPr>
          <p:cNvPr id="48" name="p2-lan1-box"/>
          <p:cNvSpPr/>
          <p:nvPr/>
        </p:nvSpPr>
        <p:spPr>
          <a:xfrm>
            <a:off x="4474210" y="1750060"/>
            <a:ext cx="753110" cy="61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49" name="p2-lan1-t"/>
          <p:cNvSpPr txBox="1"/>
          <p:nvPr/>
        </p:nvSpPr>
        <p:spPr>
          <a:xfrm>
            <a:off x="4474210" y="1750060"/>
            <a:ext cx="753110" cy="619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Immutable raw store</a:t>
            </a:r>
            <a:endParaRPr lang="en-US" sz="800" noProof="1"/>
          </a:p>
        </p:txBody>
      </p:sp>
      <p:sp>
        <p:nvSpPr>
          <p:cNvPr id="50" name="p2-lan2-box"/>
          <p:cNvSpPr/>
          <p:nvPr/>
        </p:nvSpPr>
        <p:spPr>
          <a:xfrm>
            <a:off x="4474210" y="2468880"/>
            <a:ext cx="753110" cy="61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51" name="p2-lan2-t"/>
          <p:cNvSpPr txBox="1"/>
          <p:nvPr/>
        </p:nvSpPr>
        <p:spPr>
          <a:xfrm>
            <a:off x="4474210" y="2468880"/>
            <a:ext cx="753110" cy="619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Ingestion event log</a:t>
            </a:r>
            <a:endParaRPr lang="en-US" sz="800" noProof="1"/>
          </a:p>
        </p:txBody>
      </p:sp>
      <p:sp>
        <p:nvSpPr>
          <p:cNvPr id="52" name="p2-lan3-box"/>
          <p:cNvSpPr/>
          <p:nvPr/>
        </p:nvSpPr>
        <p:spPr>
          <a:xfrm>
            <a:off x="4474210" y="3177540"/>
            <a:ext cx="753110" cy="61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53" name="p2-lan3-t"/>
          <p:cNvSpPr txBox="1"/>
          <p:nvPr/>
        </p:nvSpPr>
        <p:spPr>
          <a:xfrm>
            <a:off x="4474210" y="3177540"/>
            <a:ext cx="753110" cy="619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Tie extracted lesson back to raw artifacts</a:t>
            </a:r>
            <a:endParaRPr lang="en-US" sz="800" noProof="1"/>
          </a:p>
        </p:txBody>
      </p:sp>
      <p:sp>
        <p:nvSpPr>
          <p:cNvPr id="54" name="p2-trad-box"/>
          <p:cNvSpPr/>
          <p:nvPr/>
        </p:nvSpPr>
        <p:spPr>
          <a:xfrm>
            <a:off x="5370830" y="1750060"/>
            <a:ext cx="1727200" cy="256921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55" name="p2-trad-t"/>
          <p:cNvSpPr txBox="1"/>
          <p:nvPr/>
        </p:nvSpPr>
        <p:spPr>
          <a:xfrm>
            <a:off x="5461000" y="1816100"/>
            <a:ext cx="1549400" cy="2425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750" noProof="1" b="1">
                <a:solidFill>
                  <a:srgbClr val="3A4650"/>
                </a:solidFill>
                <a:latin typeface="MiSans"/>
                <a:ea typeface="MiSans"/>
              </a:rPr>
              <a:t>TRADITIONAL AI / ML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OCR &amp; layout extraction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Speech-to-text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Document classification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Duplicate / near-duplicate detection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Table extraction (Excel / PDF)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Deterministic, high-volume digitization of PDFs, decks, recordings &amp; notes</a:t>
            </a:r>
            <a:endParaRPr lang="en-US" sz="750" noProof="1"/>
          </a:p>
        </p:txBody>
      </p:sp>
      <p:sp>
        <p:nvSpPr>
          <p:cNvPr id="56" name="p2-llm-box"/>
          <p:cNvSpPr/>
          <p:nvPr/>
        </p:nvSpPr>
        <p:spPr>
          <a:xfrm>
            <a:off x="7198360" y="1760220"/>
            <a:ext cx="1849120" cy="2546350"/>
          </a:xfrm>
          <a:prstGeom prst="rect">
            <a:avLst/>
          </a:prstGeom>
          <a:solidFill>
            <a:srgbClr val="C1E5F5"/>
          </a:solidFill>
          <a:ln w="12700">
            <a:solidFill>
              <a:srgbClr val="8FC3E4"/>
            </a:solidFill>
          </a:ln>
        </p:spPr>
      </p:sp>
      <p:sp>
        <p:nvSpPr>
          <p:cNvPr id="57" name="p2-llm-t"/>
          <p:cNvSpPr txBox="1"/>
          <p:nvPr/>
        </p:nvSpPr>
        <p:spPr>
          <a:xfrm>
            <a:off x="7289800" y="1854200"/>
            <a:ext cx="1676400" cy="237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750" noProof="1" b="1">
                <a:solidFill>
                  <a:srgbClr val="24333F"/>
                </a:solidFill>
                <a:latin typeface="MiSans"/>
                <a:ea typeface="MiSans"/>
              </a:rPr>
              <a:t>LLM CURATION - drafts only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Template extraction - lessons, decision rationale, considerations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Taxonomy tagging - domain, region, knowledge type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Summarization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Entity &amp; relationship extraction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Initial confidence scoring</a:t>
            </a:r>
            <a:endParaRPr lang="en-US" sz="750" noProof="1"/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Embedding &amp; chunking - metadata-carrying vectors</a:t>
            </a:r>
            <a:endParaRPr lang="en-US" sz="750" noProof="1"/>
          </a:p>
        </p:txBody>
      </p:sp>
      <p:sp>
        <p:nvSpPr>
          <p:cNvPr id="58" name="p2-c3-box"/>
          <p:cNvSpPr/>
          <p:nvPr/>
        </p:nvSpPr>
        <p:spPr>
          <a:xfrm>
            <a:off x="3665220" y="4629150"/>
            <a:ext cx="5382260" cy="565150"/>
          </a:xfrm>
          <a:prstGeom prst="rect">
            <a:avLst/>
          </a:prstGeom>
          <a:solidFill>
            <a:srgbClr val="C1E5F5"/>
          </a:solidFill>
          <a:ln w="12700">
            <a:solidFill>
              <a:srgbClr val="8FC3E4"/>
            </a:solidFill>
          </a:ln>
        </p:spPr>
      </p:sp>
      <p:sp>
        <p:nvSpPr>
          <p:cNvPr id="59" name="p2-c3-t"/>
          <p:cNvSpPr txBox="1"/>
          <p:nvPr/>
        </p:nvSpPr>
        <p:spPr>
          <a:xfrm>
            <a:off x="4000500" y="4673600"/>
            <a:ext cx="49784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850" noProof="1" b="1">
                <a:solidFill>
                  <a:srgbClr val="1C2B3A"/>
                </a:solidFill>
                <a:latin typeface="MiSans"/>
                <a:ea typeface="MiSans"/>
              </a:rPr>
              <a:t>Implement a Knowledge Graph + metadata as the governed "single source of truth" - connecting decisions ↔ lessons ↔ outcomes ↔ assets ↔ SMEs</a:t>
            </a:r>
            <a:endParaRPr lang="en-US" sz="850" noProof="1"/>
          </a:p>
        </p:txBody>
      </p:sp>
      <p:sp>
        <p:nvSpPr>
          <p:cNvPr id="60" name="p2-hg-box"/>
          <p:cNvSpPr/>
          <p:nvPr/>
        </p:nvSpPr>
        <p:spPr>
          <a:xfrm>
            <a:off x="3620770" y="5337810"/>
            <a:ext cx="5425440" cy="652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61" name="p2-hg-t"/>
          <p:cNvSpPr txBox="1"/>
          <p:nvPr/>
        </p:nvSpPr>
        <p:spPr>
          <a:xfrm>
            <a:off x="4013200" y="5384800"/>
            <a:ext cx="495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The Human Gate</a:t>
            </a:r>
            <a:endParaRPr lang="en-US" sz="85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3A4650"/>
                </a:solidFill>
                <a:latin typeface="MiSans"/>
                <a:ea typeface="MiSans"/>
              </a:rPr>
              <a:t>Accept / edit / archive · SME corrections drive the accuracy loop and what goes into the repository</a:t>
            </a:r>
            <a:endParaRPr lang="en-US" sz="850" noProof="1"/>
          </a:p>
        </p:txBody>
      </p:sp>
      <p:sp>
        <p:nvSpPr>
          <p:cNvPr id="62" name="p2-qm-box"/>
          <p:cNvSpPr/>
          <p:nvPr/>
        </p:nvSpPr>
        <p:spPr>
          <a:xfrm>
            <a:off x="3620770" y="6023610"/>
            <a:ext cx="4894580" cy="675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6482"/>
            </a:solidFill>
            <a:prstDash val="dash"/>
          </a:ln>
        </p:spPr>
      </p:sp>
      <p:sp>
        <p:nvSpPr>
          <p:cNvPr id="63" name="p2-qm-t"/>
          <p:cNvSpPr txBox="1"/>
          <p:nvPr/>
        </p:nvSpPr>
        <p:spPr>
          <a:xfrm>
            <a:off x="3784600" y="6070600"/>
            <a:ext cx="457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1E6482"/>
                </a:solidFill>
                <a:latin typeface="MiSans"/>
                <a:ea typeface="MiSans"/>
              </a:rPr>
              <a:t>EXTRACTION QUALITY MONITORING</a:t>
            </a:r>
            <a:endParaRPr lang="en-US" sz="85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3A4650"/>
                </a:solidFill>
                <a:latin typeface="MiSans"/>
                <a:ea typeface="MiSans"/>
              </a:rPr>
              <a:t>Low-confidence clusters routed for targeted re-review</a:t>
            </a:r>
            <a:endParaRPr lang="en-US" sz="850" noProof="1"/>
          </a:p>
        </p:txBody>
      </p:sp>
      <p:sp>
        <p:nvSpPr>
          <p:cNvPr id="64" name="p2-c1-box"/>
          <p:cNvSpPr/>
          <p:nvPr/>
        </p:nvSpPr>
        <p:spPr>
          <a:xfrm>
            <a:off x="863600" y="5581650"/>
            <a:ext cx="1705610" cy="553720"/>
          </a:xfrm>
          <a:prstGeom prst="rect">
            <a:avLst/>
          </a:prstGeom>
          <a:solidFill>
            <a:srgbClr val="C1E5F5"/>
          </a:solidFill>
          <a:ln w="12700">
            <a:solidFill>
              <a:srgbClr val="8FC3E4"/>
            </a:solidFill>
          </a:ln>
        </p:spPr>
      </p:sp>
      <p:sp>
        <p:nvSpPr>
          <p:cNvPr id="65" name="p2-c1-t"/>
          <p:cNvSpPr txBox="1"/>
          <p:nvPr/>
        </p:nvSpPr>
        <p:spPr>
          <a:xfrm>
            <a:off x="1193800" y="5613400"/>
            <a:ext cx="13335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850" noProof="1" b="1">
                <a:solidFill>
                  <a:srgbClr val="1C2B3A"/>
                </a:solidFill>
                <a:latin typeface="MiSans"/>
                <a:ea typeface="MiSans"/>
              </a:rPr>
              <a:t>Automated capture - limit manual effort for CI teams</a:t>
            </a:r>
            <a:endParaRPr lang="en-US" sz="850" noProof="1"/>
          </a:p>
        </p:txBody>
      </p:sp>
      <p:sp>
        <p:nvSpPr>
          <p:cNvPr id="66" name="p2-am-box"/>
          <p:cNvSpPr/>
          <p:nvPr/>
        </p:nvSpPr>
        <p:spPr>
          <a:xfrm>
            <a:off x="863600" y="6223000"/>
            <a:ext cx="180467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0B0"/>
            </a:solidFill>
            <a:prstDash val="dash"/>
          </a:ln>
        </p:spPr>
      </p:sp>
      <p:sp>
        <p:nvSpPr>
          <p:cNvPr id="67" name="p2-am-icon1"/>
          <p:cNvSpPr/>
          <p:nvPr>
            <p:extLst>
              <p:ext uri="{F5677B7D-0D2A-4D9B-9A5C-6D8D7D0E5A5D}">
                <pptd:icon encoding="base64url">eyJpY29uTmFtZSI6ImZhczpkaXNwbGF5In0</pptd:icon>
              </p:ext>
            </p:extLst>
          </p:nvPr>
        </p:nvSpPr>
        <p:spPr>
          <a:xfrm>
            <a:off x="977900" y="6350000"/>
            <a:ext cx="2286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2E3A45"/>
          </a:solidFill>
          <a:ln>
            <a:noFill/>
          </a:ln>
        </p:spPr>
      </p:sp>
      <p:sp>
        <p:nvSpPr>
          <p:cNvPr id="68" name="p2-am-t1"/>
          <p:cNvSpPr txBox="1"/>
          <p:nvPr/>
        </p:nvSpPr>
        <p:spPr>
          <a:xfrm>
            <a:off x="1320800" y="6324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2E3A45"/>
                </a:solidFill>
                <a:latin typeface="MiSans"/>
                <a:ea typeface="MiSans"/>
              </a:rPr>
              <a:t>Auto - Ingestion</a:t>
            </a:r>
            <a:endParaRPr lang="en-US" sz="950" noProof="1"/>
          </a:p>
        </p:txBody>
      </p:sp>
      <p:sp>
        <p:nvSpPr>
          <p:cNvPr id="69" name="p2-am-icon2"/>
          <p:cNvSpPr/>
          <p:nvPr>
            <p:extLst>
              <p:ext uri="{F5677B7D-0D2A-4D9B-9A5C-6D8D7D0E5A5D}">
                <pptd:icon encoding="base64url">eyJpY29uTmFtZSI6ImZhczp1c2VyIn0</pptd:icon>
              </p:ext>
            </p:extLst>
          </p:nvPr>
        </p:nvSpPr>
        <p:spPr>
          <a:xfrm>
            <a:off x="990600" y="670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2E3A45"/>
          </a:solidFill>
          <a:ln>
            <a:noFill/>
          </a:ln>
        </p:spPr>
      </p:sp>
      <p:sp>
        <p:nvSpPr>
          <p:cNvPr id="70" name="p2-am-t2"/>
          <p:cNvSpPr txBox="1"/>
          <p:nvPr/>
        </p:nvSpPr>
        <p:spPr>
          <a:xfrm>
            <a:off x="1320800" y="6705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2E3A45"/>
                </a:solidFill>
                <a:latin typeface="MiSans"/>
                <a:ea typeface="MiSans"/>
              </a:rPr>
              <a:t>Manual - Ingestion</a:t>
            </a:r>
            <a:endParaRPr lang="en-US" sz="950" noProof="1"/>
          </a:p>
        </p:txBody>
      </p:sp>
      <p:sp>
        <p:nvSpPr>
          <p:cNvPr id="71" name="p2-arr-sf"/>
          <p:cNvSpPr/>
          <p:nvPr>
            <p:extLst>
              <p:ext uri="{F5677B7D-0D2A-4D9B-9A5C-6D8D7D0E5A5D}">
                <pptd:line encoding="base64url">eyJ2aWV3Qm94IjpbOC41LDEwXSwicG9pbnRzIjoiMCw1IDguNSw1In0</pptd:line>
              </p:ext>
            </p:extLst>
          </p:nvPr>
        </p:nvSpPr>
        <p:spPr>
          <a:xfrm>
            <a:off x="2584450" y="2635250"/>
            <a:ext cx="107950" cy="12700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0" y="5"/>
                </a:moveTo>
                <a:lnTo>
                  <a:pt x="9" y="5"/>
                </a:lnTo>
              </a:path>
            </a:pathLst>
          </a:custGeom>
          <a:noFill/>
          <a:ln w="19050" cap="rnd">
            <a:solidFill>
              <a:srgbClr val="98A1A9"/>
            </a:solidFill>
            <a:round/>
            <a:tailEnd type="arrow"/>
          </a:ln>
        </p:spPr>
      </p:sp>
      <p:sp>
        <p:nvSpPr>
          <p:cNvPr id="72" name="p2-arr-fp"/>
          <p:cNvSpPr/>
          <p:nvPr>
            <p:extLst>
              <p:ext uri="{F5677B7D-0D2A-4D9B-9A5C-6D8D7D0E5A5D}">
                <pptd:line encoding="base64url">eyJ2aWV3Qm94IjpbNy41LDEwXSwicG9pbnRzIjoiMCw1IDcuNSw1In0</pptd:line>
              </p:ext>
            </p:extLst>
          </p:nvPr>
        </p:nvSpPr>
        <p:spPr>
          <a:xfrm>
            <a:off x="3435350" y="26352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0" y="5"/>
                </a:moveTo>
                <a:lnTo>
                  <a:pt x="8" y="5"/>
                </a:lnTo>
              </a:path>
            </a:pathLst>
          </a:custGeom>
          <a:noFill/>
          <a:ln w="19050" cap="rnd">
            <a:solidFill>
              <a:srgbClr val="98A1A9"/>
            </a:solidFill>
            <a:round/>
            <a:tailEnd type="arrow"/>
          </a:ln>
        </p:spPr>
      </p:sp>
      <p:sp>
        <p:nvSpPr>
          <p:cNvPr id="73" name="p2-arr-lp"/>
          <p:cNvSpPr/>
          <p:nvPr>
            <p:extLst>
              <p:ext uri="{F5677B7D-0D2A-4D9B-9A5C-6D8D7D0E5A5D}">
                <pptd:line encoding="base64url">eyJ2aWV3Qm94IjpbMTEuMywxMF0sInBvaW50cyI6IjAsNSAxMS4zLDUifQ</pptd:line>
              </p:ext>
            </p:extLst>
          </p:nvPr>
        </p:nvSpPr>
        <p:spPr>
          <a:xfrm>
            <a:off x="5227320" y="2597150"/>
            <a:ext cx="143510" cy="12700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0" y="5"/>
                </a:moveTo>
                <a:lnTo>
                  <a:pt x="11" y="5"/>
                </a:lnTo>
              </a:path>
            </a:pathLst>
          </a:custGeom>
          <a:noFill/>
          <a:ln w="19050" cap="rnd">
            <a:solidFill>
              <a:srgbClr val="98A1A9"/>
            </a:solidFill>
            <a:round/>
            <a:tailEnd type="arrow"/>
          </a:ln>
        </p:spPr>
      </p:sp>
      <p:sp>
        <p:nvSpPr>
          <p:cNvPr id="74" name="p2-arr-llmp"/>
          <p:cNvSpPr/>
          <p:nvPr>
            <p:extLst>
              <p:ext uri="{F5677B7D-0D2A-4D9B-9A5C-6D8D7D0E5A5D}">
                <pptd:line encoding="base64url">eyJ2aWV3Qm94IjpbMTQuNywxMF0sInBvaW50cyI6IjAsNSAxNC43LDUifQ</pptd:line>
              </p:ext>
            </p:extLst>
          </p:nvPr>
        </p:nvSpPr>
        <p:spPr>
          <a:xfrm>
            <a:off x="9047480" y="3727450"/>
            <a:ext cx="186690" cy="127000"/>
          </a:xfrm>
          <a:custGeom>
            <a:avLst/>
            <a:gdLst/>
            <a:ahLst/>
            <a:cxnLst/>
            <a:rect l="l" t="t" r="r" b="b"/>
            <a:pathLst>
              <a:path w="15" h="10">
                <a:moveTo>
                  <a:pt x="0" y="5"/>
                </a:moveTo>
                <a:lnTo>
                  <a:pt x="15" y="5"/>
                </a:lnTo>
              </a:path>
            </a:pathLst>
          </a:custGeom>
          <a:noFill/>
          <a:ln w="19050" cap="rnd">
            <a:solidFill>
              <a:srgbClr val="98A1A9"/>
            </a:solidFill>
            <a:round/>
            <a:tailEnd type="arrow"/>
          </a:ln>
        </p:spPr>
      </p:sp>
      <p:sp>
        <p:nvSpPr>
          <p:cNvPr id="75" name="p2-arr-pd"/>
          <p:cNvSpPr/>
          <p:nvPr>
            <p:extLst>
              <p:ext uri="{F5677B7D-0D2A-4D9B-9A5C-6D8D7D0E5A5D}">
                <pptd:line encoding="base64url">eyJ2aWV3Qm94IjpbMTIuNCwxMF0sInBvaW50cyI6IjAsNSAxMi40LDUifQ</pptd:line>
              </p:ext>
            </p:extLst>
          </p:nvPr>
        </p:nvSpPr>
        <p:spPr>
          <a:xfrm>
            <a:off x="12067540" y="3727450"/>
            <a:ext cx="157480" cy="12700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5"/>
                </a:moveTo>
                <a:lnTo>
                  <a:pt x="12" y="5"/>
                </a:lnTo>
              </a:path>
            </a:pathLst>
          </a:custGeom>
          <a:noFill/>
          <a:ln w="19050" cap="rnd">
            <a:solidFill>
              <a:srgbClr val="98A1A9"/>
            </a:solidFill>
            <a:round/>
            <a:tailEnd type="arrow"/>
          </a:ln>
        </p:spPr>
      </p:sp>
      <p:sp>
        <p:nvSpPr>
          <p:cNvPr id="76" name="p2-arr-dc"/>
          <p:cNvSpPr/>
          <p:nvPr>
            <p:extLst>
              <p:ext uri="{F5677B7D-0D2A-4D9B-9A5C-6D8D7D0E5A5D}">
                <pptd:line encoding="base64url">eyJ2aWV3Qm94IjpbMTEuMywxMF0sInBvaW50cyI6IjAsNSAxMS4zLDUifQ</pptd:line>
              </p:ext>
            </p:extLst>
          </p:nvPr>
        </p:nvSpPr>
        <p:spPr>
          <a:xfrm>
            <a:off x="13465810" y="3727450"/>
            <a:ext cx="143510" cy="12700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0" y="5"/>
                </a:moveTo>
                <a:lnTo>
                  <a:pt x="11" y="5"/>
                </a:lnTo>
              </a:path>
            </a:pathLst>
          </a:custGeom>
          <a:noFill/>
          <a:ln w="19050" cap="rnd">
            <a:solidFill>
              <a:srgbClr val="98A1A9"/>
            </a:solidFill>
            <a:round/>
            <a:tailEnd type="arrow"/>
          </a:ln>
        </p:spPr>
      </p:sp>
      <p:sp>
        <p:nvSpPr>
          <p:cNvPr id="77" name="p2-arr-down"/>
          <p:cNvSpPr/>
          <p:nvPr>
            <p:extLst>
              <p:ext uri="{F5677B7D-0D2A-4D9B-9A5C-6D8D7D0E5A5D}">
                <pptd:line encoding="base64url">eyJ2aWV3Qm94IjpbMTAsMjVdLCJwb2ludHMiOiI1LDAgNSwyNSJ9</pptd:line>
              </p:ext>
            </p:extLst>
          </p:nvPr>
        </p:nvSpPr>
        <p:spPr>
          <a:xfrm>
            <a:off x="8102600" y="4311650"/>
            <a:ext cx="127000" cy="317500"/>
          </a:xfrm>
          <a:custGeom>
            <a:avLst/>
            <a:gdLst/>
            <a:ahLst/>
            <a:cxnLst/>
            <a:rect l="l" t="t" r="r" b="b"/>
            <a:pathLst>
              <a:path w="10" h="25">
                <a:moveTo>
                  <a:pt x="5" y="0"/>
                </a:moveTo>
                <a:lnTo>
                  <a:pt x="5" y="25"/>
                </a:lnTo>
              </a:path>
            </a:pathLst>
          </a:custGeom>
          <a:noFill/>
          <a:ln w="19050" cap="rnd">
            <a:solidFill>
              <a:srgbClr val="98A1A9"/>
            </a:solidFill>
            <a:round/>
            <a:tailEnd type="arrow"/>
          </a:ln>
        </p:spPr>
      </p:sp>
      <p:sp>
        <p:nvSpPr>
          <p:cNvPr id="78" name="p2-feedback"/>
          <p:cNvSpPr/>
          <p:nvPr>
            <p:extLst>
              <p:ext uri="{F5677B7D-0D2A-4D9B-9A5C-6D8D7D0E5A5D}">
                <pptd:line encoding="base64url">eyJ2aWV3Qm94IjpbMzQwLjgsMTYyXSwicG9pbnRzIjoiMzQwLjgsMCAzNDAuOCwxNjIgMCwxNjIgMCwxNDMiLCJjdXJ2ZSI6InNoYXJwIn0</pptd:line>
              </p:ext>
            </p:extLst>
          </p:nvPr>
        </p:nvSpPr>
        <p:spPr>
          <a:xfrm>
            <a:off x="8515350" y="4895850"/>
            <a:ext cx="4328160" cy="2057400"/>
          </a:xfrm>
          <a:custGeom>
            <a:avLst/>
            <a:gdLst/>
            <a:ahLst/>
            <a:cxnLst/>
            <a:rect l="l" t="t" r="r" b="b"/>
            <a:pathLst>
              <a:path w="341" h="162">
                <a:moveTo>
                  <a:pt x="341" y="0"/>
                </a:moveTo>
                <a:lnTo>
                  <a:pt x="341" y="162"/>
                </a:lnTo>
                <a:lnTo>
                  <a:pt x="0" y="162"/>
                </a:lnTo>
                <a:lnTo>
                  <a:pt x="0" y="143"/>
                </a:lnTo>
              </a:path>
            </a:pathLst>
          </a:custGeom>
          <a:noFill/>
          <a:ln w="19050">
            <a:solidFill>
              <a:srgbClr val="1E6482"/>
            </a:solidFill>
            <a:prstDash val="dash"/>
            <a:tailEnd type="arrow"/>
          </a:ln>
        </p:spPr>
      </p:sp>
      <p:sp>
        <p:nvSpPr>
          <p:cNvPr id="79" name="p2-feedback-lbl"/>
          <p:cNvSpPr txBox="1"/>
          <p:nvPr/>
        </p:nvSpPr>
        <p:spPr>
          <a:xfrm>
            <a:off x="9347200" y="6629400"/>
            <a:ext cx="26035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8C9390"/>
                </a:solidFill>
                <a:latin typeface="MiSans"/>
                <a:ea typeface="MiSans"/>
              </a:rPr>
              <a:t>Flagged knowledge for human review</a:t>
            </a:r>
            <a:endParaRPr lang="en-US" sz="950" noProof="1"/>
          </a:p>
        </p:txBody>
      </p:sp>
      <p:sp>
        <p:nvSpPr>
          <p:cNvPr id="80" name="p2-pf1-box"/>
          <p:cNvSpPr/>
          <p:nvPr/>
        </p:nvSpPr>
        <p:spPr>
          <a:xfrm>
            <a:off x="9312910" y="1616710"/>
            <a:ext cx="2679700" cy="6426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81" name="p2-pf1-t"/>
          <p:cNvSpPr txBox="1"/>
          <p:nvPr/>
        </p:nvSpPr>
        <p:spPr>
          <a:xfrm>
            <a:off x="9423400" y="1663700"/>
            <a:ext cx="24511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Knowledge Repository</a:t>
            </a:r>
            <a:endParaRPr lang="en-US" sz="8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Raw + contextualized knowledge assets</a:t>
            </a:r>
            <a:endParaRPr lang="en-US" sz="850" noProof="1"/>
          </a:p>
        </p:txBody>
      </p:sp>
      <p:sp>
        <p:nvSpPr>
          <p:cNvPr id="82" name="p2-pf2-box"/>
          <p:cNvSpPr/>
          <p:nvPr/>
        </p:nvSpPr>
        <p:spPr>
          <a:xfrm>
            <a:off x="9312910" y="2348230"/>
            <a:ext cx="2679700" cy="652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83" name="p2-pf2-t"/>
          <p:cNvSpPr txBox="1"/>
          <p:nvPr/>
        </p:nvSpPr>
        <p:spPr>
          <a:xfrm>
            <a:off x="9423400" y="2400300"/>
            <a:ext cx="24511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Aligned Taxonomy</a:t>
            </a:r>
            <a:endParaRPr lang="en-US" sz="8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Common metadata for all sources</a:t>
            </a:r>
            <a:endParaRPr lang="en-US" sz="850" noProof="1"/>
          </a:p>
        </p:txBody>
      </p:sp>
      <p:sp>
        <p:nvSpPr>
          <p:cNvPr id="84" name="p2-pf3-box"/>
          <p:cNvSpPr/>
          <p:nvPr/>
        </p:nvSpPr>
        <p:spPr>
          <a:xfrm>
            <a:off x="9312910" y="3089910"/>
            <a:ext cx="2679700" cy="652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85" name="p2-pf3-t"/>
          <p:cNvSpPr txBox="1"/>
          <p:nvPr/>
        </p:nvSpPr>
        <p:spPr>
          <a:xfrm>
            <a:off x="9423400" y="3136900"/>
            <a:ext cx="24511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Vector Index + Keyword Index</a:t>
            </a:r>
            <a:endParaRPr lang="en-US" sz="8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Metadata-carrying embeddings for semantic search</a:t>
            </a:r>
            <a:endParaRPr lang="en-US" sz="850" noProof="1"/>
          </a:p>
        </p:txBody>
      </p:sp>
      <p:sp>
        <p:nvSpPr>
          <p:cNvPr id="86" name="p2-pf4-box"/>
          <p:cNvSpPr/>
          <p:nvPr/>
        </p:nvSpPr>
        <p:spPr>
          <a:xfrm>
            <a:off x="9312910" y="3831590"/>
            <a:ext cx="2679700" cy="652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87" name="p2-pf4-t"/>
          <p:cNvSpPr txBox="1"/>
          <p:nvPr/>
        </p:nvSpPr>
        <p:spPr>
          <a:xfrm>
            <a:off x="9423400" y="3886200"/>
            <a:ext cx="24511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Hybrid Retrieval &amp; Ranking</a:t>
            </a:r>
            <a:endParaRPr lang="en-US" sz="8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Semantic + keyword + graph traversal, fused &amp; ranked</a:t>
            </a:r>
            <a:endParaRPr lang="en-US" sz="850" noProof="1"/>
          </a:p>
        </p:txBody>
      </p:sp>
      <p:sp>
        <p:nvSpPr>
          <p:cNvPr id="88" name="p2-pf5-box"/>
          <p:cNvSpPr/>
          <p:nvPr/>
        </p:nvSpPr>
        <p:spPr>
          <a:xfrm>
            <a:off x="9312910" y="4573270"/>
            <a:ext cx="2679700" cy="652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89" name="p2-pf5-t"/>
          <p:cNvSpPr txBox="1"/>
          <p:nvPr/>
        </p:nvSpPr>
        <p:spPr>
          <a:xfrm>
            <a:off x="9423400" y="4622800"/>
            <a:ext cx="24511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Quality &amp; Confidence Layer</a:t>
            </a:r>
            <a:endParaRPr lang="en-US" sz="8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87078"/>
                </a:solidFill>
                <a:latin typeface="MiSans"/>
                <a:ea typeface="MiSans"/>
              </a:rPr>
              <a:t>Every knowledge source tiered High / Medium / Low</a:t>
            </a:r>
            <a:endParaRPr lang="en-US" sz="850" noProof="1"/>
          </a:p>
        </p:txBody>
      </p:sp>
      <p:sp>
        <p:nvSpPr>
          <p:cNvPr id="90" name="p2-pf6-box"/>
          <p:cNvSpPr/>
          <p:nvPr/>
        </p:nvSpPr>
        <p:spPr>
          <a:xfrm>
            <a:off x="9312910" y="5314950"/>
            <a:ext cx="2679700" cy="642620"/>
          </a:xfrm>
          <a:prstGeom prst="rect">
            <a:avLst/>
          </a:prstGeom>
          <a:solidFill>
            <a:srgbClr val="F7F5F0"/>
          </a:solidFill>
          <a:ln w="15875">
            <a:solidFill>
              <a:srgbClr val="1E6482"/>
            </a:solidFill>
            <a:prstDash val="dash"/>
          </a:ln>
        </p:spPr>
      </p:sp>
      <p:sp>
        <p:nvSpPr>
          <p:cNvPr id="91" name="p2-pf6-t"/>
          <p:cNvSpPr txBox="1"/>
          <p:nvPr/>
        </p:nvSpPr>
        <p:spPr>
          <a:xfrm>
            <a:off x="9423400" y="5359400"/>
            <a:ext cx="24511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Persistent source links</a:t>
            </a:r>
            <a:r>
              <a:rPr lang="en-US" sz="800" noProof="1">
                <a:solidFill>
                  <a:srgbClr val="3A4650"/>
                </a:solidFill>
                <a:latin typeface="MiSans"/>
                <a:ea typeface="MiSans"/>
              </a:rPr>
              <a:t> - every asset cites its raw artifact (page / section / timestamp)</a:t>
            </a:r>
            <a:endParaRPr lang="en-US" sz="800" noProof="1"/>
          </a:p>
        </p:txBody>
      </p:sp>
      <p:sp>
        <p:nvSpPr>
          <p:cNvPr id="92" name="p2-ac1-box"/>
          <p:cNvSpPr/>
          <p:nvPr/>
        </p:nvSpPr>
        <p:spPr>
          <a:xfrm>
            <a:off x="12225020" y="1517650"/>
            <a:ext cx="124079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93" name="p2-ac1-t"/>
          <p:cNvSpPr txBox="1"/>
          <p:nvPr/>
        </p:nvSpPr>
        <p:spPr>
          <a:xfrm>
            <a:off x="12306300" y="1562100"/>
            <a:ext cx="10795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Filter &amp; Search</a:t>
            </a:r>
            <a:endParaRPr lang="en-US" sz="8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87078"/>
                </a:solidFill>
                <a:latin typeface="MiSans"/>
                <a:ea typeface="MiSans"/>
              </a:rPr>
              <a:t>Domain · region · tier</a:t>
            </a:r>
            <a:endParaRPr lang="en-US" sz="800" noProof="1"/>
          </a:p>
        </p:txBody>
      </p:sp>
      <p:sp>
        <p:nvSpPr>
          <p:cNvPr id="94" name="p2-ac2-box"/>
          <p:cNvSpPr/>
          <p:nvPr/>
        </p:nvSpPr>
        <p:spPr>
          <a:xfrm>
            <a:off x="12225020" y="2348230"/>
            <a:ext cx="124079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95" name="p2-ac2-t"/>
          <p:cNvSpPr txBox="1"/>
          <p:nvPr/>
        </p:nvSpPr>
        <p:spPr>
          <a:xfrm>
            <a:off x="12306300" y="2400300"/>
            <a:ext cx="10795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Query Assistant</a:t>
            </a:r>
            <a:endParaRPr lang="en-US" sz="8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87078"/>
                </a:solidFill>
                <a:latin typeface="MiSans"/>
                <a:ea typeface="MiSans"/>
              </a:rPr>
              <a:t>Citations + confidence badges</a:t>
            </a:r>
            <a:endParaRPr lang="en-US" sz="800" noProof="1"/>
          </a:p>
        </p:txBody>
      </p:sp>
      <p:sp>
        <p:nvSpPr>
          <p:cNvPr id="96" name="p2-ac3-box"/>
          <p:cNvSpPr/>
          <p:nvPr/>
        </p:nvSpPr>
        <p:spPr>
          <a:xfrm>
            <a:off x="12225020" y="3177540"/>
            <a:ext cx="124079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97" name="p2-ac3-t"/>
          <p:cNvSpPr txBox="1"/>
          <p:nvPr/>
        </p:nvSpPr>
        <p:spPr>
          <a:xfrm>
            <a:off x="12306300" y="3225800"/>
            <a:ext cx="10795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APIs / MCP</a:t>
            </a:r>
            <a:endParaRPr lang="en-US" sz="8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87078"/>
                </a:solidFill>
                <a:latin typeface="MiSans"/>
                <a:ea typeface="MiSans"/>
              </a:rPr>
              <a:t>Knowledge connections to other tools</a:t>
            </a:r>
            <a:endParaRPr lang="en-US" sz="800" noProof="1"/>
          </a:p>
        </p:txBody>
      </p:sp>
      <p:sp>
        <p:nvSpPr>
          <p:cNvPr id="98" name="p2-ac4-box"/>
          <p:cNvSpPr/>
          <p:nvPr/>
        </p:nvSpPr>
        <p:spPr>
          <a:xfrm>
            <a:off x="12225020" y="4008120"/>
            <a:ext cx="1240790" cy="8864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99" name="p2-ac4-t"/>
          <p:cNvSpPr txBox="1"/>
          <p:nvPr/>
        </p:nvSpPr>
        <p:spPr>
          <a:xfrm>
            <a:off x="12306300" y="4064000"/>
            <a:ext cx="10795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Notification Alerts</a:t>
            </a:r>
            <a:endParaRPr lang="en-US" sz="8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87078"/>
                </a:solidFill>
                <a:latin typeface="MiSans"/>
                <a:ea typeface="MiSans"/>
              </a:rPr>
              <a:t>Considerations for business users</a:t>
            </a:r>
            <a:endParaRPr lang="en-US" sz="800" noProof="1"/>
          </a:p>
        </p:txBody>
      </p:sp>
      <p:sp>
        <p:nvSpPr>
          <p:cNvPr id="100" name="p2-cn1-box"/>
          <p:cNvSpPr/>
          <p:nvPr/>
        </p:nvSpPr>
        <p:spPr>
          <a:xfrm>
            <a:off x="13609320" y="1517650"/>
            <a:ext cx="1727200" cy="75311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01" name="p2-cn1-t"/>
          <p:cNvSpPr txBox="1"/>
          <p:nvPr/>
        </p:nvSpPr>
        <p:spPr>
          <a:xfrm>
            <a:off x="13703300" y="1562100"/>
            <a:ext cx="15367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VCO Planning</a:t>
            </a:r>
            <a:endParaRPr lang="en-US" sz="8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87078"/>
                </a:solidFill>
                <a:latin typeface="MiSans"/>
                <a:ea typeface="MiSans"/>
              </a:rPr>
              <a:t>VCO XPIMS / DPO Planning Team</a:t>
            </a:r>
            <a:endParaRPr lang="en-US" sz="800" noProof="1"/>
          </a:p>
        </p:txBody>
      </p:sp>
      <p:sp>
        <p:nvSpPr>
          <p:cNvPr id="102" name="p2-cn2-box"/>
          <p:cNvSpPr/>
          <p:nvPr/>
        </p:nvSpPr>
        <p:spPr>
          <a:xfrm>
            <a:off x="13609320" y="2348230"/>
            <a:ext cx="17272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03" name="p2-cn2-t"/>
          <p:cNvSpPr txBox="1"/>
          <p:nvPr/>
        </p:nvSpPr>
        <p:spPr>
          <a:xfrm>
            <a:off x="13703300" y="2400300"/>
            <a:ext cx="15367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VCO CI</a:t>
            </a:r>
            <a:endParaRPr lang="en-US" sz="8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87078"/>
                </a:solidFill>
                <a:latin typeface="MiSans"/>
                <a:ea typeface="MiSans"/>
              </a:rPr>
              <a:t>VCO CI Lookback &amp; Backcasting Teams</a:t>
            </a:r>
            <a:endParaRPr lang="en-US" sz="800" noProof="1"/>
          </a:p>
        </p:txBody>
      </p:sp>
      <p:sp>
        <p:nvSpPr>
          <p:cNvPr id="104" name="p2-cn3-box"/>
          <p:cNvSpPr/>
          <p:nvPr/>
        </p:nvSpPr>
        <p:spPr>
          <a:xfrm>
            <a:off x="13609320" y="3211830"/>
            <a:ext cx="1727200" cy="74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05" name="p2-cn3-t"/>
          <p:cNvSpPr txBox="1"/>
          <p:nvPr/>
        </p:nvSpPr>
        <p:spPr>
          <a:xfrm>
            <a:off x="13703300" y="3263900"/>
            <a:ext cx="1536700" cy="647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Commercial Scheduling</a:t>
            </a:r>
            <a:endParaRPr lang="en-US" sz="8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87078"/>
                </a:solidFill>
                <a:latin typeface="MiSans"/>
                <a:ea typeface="MiSans"/>
              </a:rPr>
              <a:t>Scheduling managers</a:t>
            </a:r>
            <a:endParaRPr lang="en-US" sz="800" noProof="1"/>
          </a:p>
        </p:txBody>
      </p:sp>
      <p:sp>
        <p:nvSpPr>
          <p:cNvPr id="106" name="p2-cn4-box"/>
          <p:cNvSpPr/>
          <p:nvPr/>
        </p:nvSpPr>
        <p:spPr>
          <a:xfrm>
            <a:off x="13609320" y="4008120"/>
            <a:ext cx="1727200" cy="8864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0B0"/>
            </a:solidFill>
            <a:prstDash val="dash"/>
          </a:ln>
        </p:spPr>
      </p:sp>
      <p:sp>
        <p:nvSpPr>
          <p:cNvPr id="107" name="p2-cn4-t"/>
          <p:cNvSpPr txBox="1"/>
          <p:nvPr/>
        </p:nvSpPr>
        <p:spPr>
          <a:xfrm>
            <a:off x="13703300" y="4064000"/>
            <a:ext cx="1536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Decision-Support Agents</a:t>
            </a:r>
            <a:endParaRPr lang="en-US" sz="800" noProof="1"/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lang="en-US" sz="800" noProof="1" b="1">
                <a:solidFill>
                  <a:srgbClr val="C76B8A"/>
                </a:solidFill>
                <a:latin typeface="MiSans"/>
                <a:ea typeface="MiSans"/>
              </a:rPr>
              <a:t>FUTURE PHASE</a:t>
            </a:r>
            <a:endParaRPr lang="en-US" sz="8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00" noProof="1">
                <a:solidFill>
                  <a:srgbClr val="687078"/>
                </a:solidFill>
                <a:latin typeface="MiSans"/>
                <a:ea typeface="MiSans"/>
              </a:rPr>
              <a:t>Proactive lesson surfacing · gap detection</a:t>
            </a:r>
            <a:endParaRPr lang="en-US" sz="800" noProof="1"/>
          </a:p>
        </p:txBody>
      </p:sp>
      <p:sp>
        <p:nvSpPr>
          <p:cNvPr id="108" name="p2-band"/>
          <p:cNvSpPr/>
          <p:nvPr/>
        </p:nvSpPr>
        <p:spPr>
          <a:xfrm>
            <a:off x="863600" y="7031990"/>
            <a:ext cx="14184630" cy="863600"/>
          </a:xfrm>
          <a:prstGeom prst="rect">
            <a:avLst/>
          </a:prstGeom>
          <a:solidFill>
            <a:srgbClr val="C1E5F5"/>
          </a:solidFill>
          <a:ln w="12700">
            <a:solidFill>
              <a:srgbClr val="A9D4EC"/>
            </a:solidFill>
          </a:ln>
        </p:spPr>
      </p:sp>
      <p:sp>
        <p:nvSpPr>
          <p:cNvPr id="109" name="p2-band-header"/>
          <p:cNvSpPr txBox="1"/>
          <p:nvPr/>
        </p:nvSpPr>
        <p:spPr>
          <a:xfrm>
            <a:off x="1219200" y="708025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1C2B3A"/>
                </a:solidFill>
                <a:latin typeface="MiSans"/>
                <a:ea typeface="MiSans"/>
              </a:rPr>
              <a:t>Common Platform Services</a:t>
            </a:r>
            <a:endParaRPr lang="en-US" sz="1000" noProof="1"/>
          </a:p>
        </p:txBody>
      </p:sp>
      <p:sp>
        <p:nvSpPr>
          <p:cNvPr id="110" name="p2-bs1-box"/>
          <p:cNvSpPr/>
          <p:nvPr/>
        </p:nvSpPr>
        <p:spPr>
          <a:xfrm>
            <a:off x="1283970" y="7419340"/>
            <a:ext cx="2546350" cy="42037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11" name="p2-bs1-t"/>
          <p:cNvSpPr txBox="1"/>
          <p:nvPr/>
        </p:nvSpPr>
        <p:spPr>
          <a:xfrm>
            <a:off x="1384300" y="7448550"/>
            <a:ext cx="23495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Process Governance &amp; Lifecycle</a:t>
            </a:r>
            <a:endParaRPr lang="en-US" sz="750" noProof="1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Knowledge Source States · Taxonomy</a:t>
            </a:r>
            <a:endParaRPr lang="en-US" sz="750" noProof="1"/>
          </a:p>
        </p:txBody>
      </p:sp>
      <p:sp>
        <p:nvSpPr>
          <p:cNvPr id="112" name="p2-bs2-box"/>
          <p:cNvSpPr/>
          <p:nvPr/>
        </p:nvSpPr>
        <p:spPr>
          <a:xfrm>
            <a:off x="4030980" y="7419340"/>
            <a:ext cx="2546350" cy="42037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13" name="p2-bs2-t"/>
          <p:cNvSpPr txBox="1"/>
          <p:nvPr/>
        </p:nvSpPr>
        <p:spPr>
          <a:xfrm>
            <a:off x="4127500" y="7448550"/>
            <a:ext cx="23495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Quality-Tier &amp; Confidence Model</a:t>
            </a:r>
            <a:endParaRPr lang="en-US" sz="750" noProof="1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Authoritative vs. indicative sources</a:t>
            </a:r>
            <a:endParaRPr lang="en-US" sz="750" noProof="1"/>
          </a:p>
        </p:txBody>
      </p:sp>
      <p:sp>
        <p:nvSpPr>
          <p:cNvPr id="114" name="p2-bs3-box"/>
          <p:cNvSpPr/>
          <p:nvPr/>
        </p:nvSpPr>
        <p:spPr>
          <a:xfrm>
            <a:off x="6799580" y="7419340"/>
            <a:ext cx="2546350" cy="42037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15" name="p2-bs3-t"/>
          <p:cNvSpPr txBox="1"/>
          <p:nvPr/>
        </p:nvSpPr>
        <p:spPr>
          <a:xfrm>
            <a:off x="6896100" y="7448550"/>
            <a:ext cx="23495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Tool Access</a:t>
            </a:r>
            <a:endParaRPr lang="en-US" sz="750" noProof="1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Decisions on business users access</a:t>
            </a:r>
            <a:endParaRPr lang="en-US" sz="750" noProof="1"/>
          </a:p>
        </p:txBody>
      </p:sp>
      <p:sp>
        <p:nvSpPr>
          <p:cNvPr id="116" name="p2-bs4-box"/>
          <p:cNvSpPr/>
          <p:nvPr/>
        </p:nvSpPr>
        <p:spPr>
          <a:xfrm>
            <a:off x="9568180" y="7419340"/>
            <a:ext cx="2546350" cy="42037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17" name="p2-bs4-t"/>
          <p:cNvSpPr txBox="1"/>
          <p:nvPr/>
        </p:nvSpPr>
        <p:spPr>
          <a:xfrm>
            <a:off x="9664700" y="7448550"/>
            <a:ext cx="23495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Audit &amp; Versioning</a:t>
            </a:r>
            <a:endParaRPr lang="en-US" sz="750" noProof="1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Full lineage &amp; change history</a:t>
            </a:r>
            <a:endParaRPr lang="en-US" sz="750" noProof="1"/>
          </a:p>
        </p:txBody>
      </p:sp>
      <p:sp>
        <p:nvSpPr>
          <p:cNvPr id="118" name="p2-bs5-box"/>
          <p:cNvSpPr/>
          <p:nvPr/>
        </p:nvSpPr>
        <p:spPr>
          <a:xfrm>
            <a:off x="12335510" y="7419340"/>
            <a:ext cx="2546350" cy="42037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19" name="p2-bs5-t"/>
          <p:cNvSpPr txBox="1"/>
          <p:nvPr/>
        </p:nvSpPr>
        <p:spPr>
          <a:xfrm>
            <a:off x="12433300" y="7448550"/>
            <a:ext cx="23495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Continuous Improvement</a:t>
            </a:r>
            <a:endParaRPr lang="en-US" sz="750" noProof="1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SME revisions to repository</a:t>
            </a:r>
            <a:endParaRPr lang="en-US" sz="750" noProof="1"/>
          </a:p>
        </p:txBody>
      </p:sp>
      <p:sp>
        <p:nvSpPr>
          <p:cNvPr id="120" name="p2-badge2-c"/>
          <p:cNvSpPr/>
          <p:nvPr/>
        </p:nvSpPr>
        <p:spPr>
          <a:xfrm>
            <a:off x="7120890" y="1661160"/>
            <a:ext cx="220980" cy="22098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121" name="p2-badge2-t"/>
          <p:cNvSpPr txBox="1"/>
          <p:nvPr/>
        </p:nvSpPr>
        <p:spPr>
          <a:xfrm>
            <a:off x="7120890" y="1661160"/>
            <a:ext cx="220980" cy="2209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950" noProof="1"/>
          </a:p>
        </p:txBody>
      </p:sp>
      <p:sp>
        <p:nvSpPr>
          <p:cNvPr id="122" name="p2-badge3-c"/>
          <p:cNvSpPr/>
          <p:nvPr/>
        </p:nvSpPr>
        <p:spPr>
          <a:xfrm>
            <a:off x="3709670" y="4784090"/>
            <a:ext cx="220980" cy="22098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123" name="p2-badge3-t"/>
          <p:cNvSpPr txBox="1"/>
          <p:nvPr/>
        </p:nvSpPr>
        <p:spPr>
          <a:xfrm>
            <a:off x="3709670" y="4784090"/>
            <a:ext cx="220980" cy="2209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950" noProof="1"/>
          </a:p>
        </p:txBody>
      </p:sp>
      <p:sp>
        <p:nvSpPr>
          <p:cNvPr id="124" name="p2-badge4-c"/>
          <p:cNvSpPr/>
          <p:nvPr/>
        </p:nvSpPr>
        <p:spPr>
          <a:xfrm>
            <a:off x="3709670" y="5547360"/>
            <a:ext cx="220980" cy="22098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125" name="p2-badge4-t"/>
          <p:cNvSpPr txBox="1"/>
          <p:nvPr/>
        </p:nvSpPr>
        <p:spPr>
          <a:xfrm>
            <a:off x="3709670" y="5547360"/>
            <a:ext cx="220980" cy="2209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950" noProof="1"/>
          </a:p>
        </p:txBody>
      </p:sp>
      <p:sp>
        <p:nvSpPr>
          <p:cNvPr id="126" name="p2-badge1-c"/>
          <p:cNvSpPr/>
          <p:nvPr/>
        </p:nvSpPr>
        <p:spPr>
          <a:xfrm>
            <a:off x="919480" y="5736590"/>
            <a:ext cx="220980" cy="22098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127" name="p2-badge1-t"/>
          <p:cNvSpPr txBox="1"/>
          <p:nvPr/>
        </p:nvSpPr>
        <p:spPr>
          <a:xfrm>
            <a:off x="919480" y="5736590"/>
            <a:ext cx="220980" cy="2209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950" noProof="1"/>
          </a:p>
        </p:txBody>
      </p:sp>
      <p:sp>
        <p:nvSpPr>
          <p:cNvPr id="128" name="p2-badge5-c"/>
          <p:cNvSpPr/>
          <p:nvPr/>
        </p:nvSpPr>
        <p:spPr>
          <a:xfrm>
            <a:off x="919480" y="7076440"/>
            <a:ext cx="220980" cy="22098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129" name="p2-badge5-t"/>
          <p:cNvSpPr txBox="1"/>
          <p:nvPr/>
        </p:nvSpPr>
        <p:spPr>
          <a:xfrm>
            <a:off x="919480" y="7076440"/>
            <a:ext cx="220980" cy="2209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5</a:t>
            </a:r>
            <a:endParaRPr lang="en-US" sz="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3-title"/>
          <p:cNvSpPr txBox="1"/>
          <p:nvPr/>
        </p:nvSpPr>
        <p:spPr>
          <a:xfrm>
            <a:off x="381000" y="1778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2B3A"/>
                </a:solidFill>
                <a:latin typeface="MiSans"/>
                <a:ea typeface="MiSans"/>
              </a:rPr>
              <a:t>KM – Agent-Native Knowledge Platform</a:t>
            </a:r>
            <a:endParaRPr lang="en-US" sz="2000" noProof="1"/>
          </a:p>
        </p:txBody>
      </p:sp>
      <p:sp>
        <p:nvSpPr>
          <p:cNvPr id="3" name="p3-ambition"/>
          <p:cNvSpPr txBox="1"/>
          <p:nvPr/>
        </p:nvSpPr>
        <p:spPr>
          <a:xfrm>
            <a:off x="381000" y="508000"/>
            <a:ext cx="965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87078"/>
                </a:solidFill>
                <a:latin typeface="MiSans"/>
                <a:ea typeface="MiSans"/>
              </a:rPr>
              <a:t>7 scattered source systems → one governed, agent-ready knowledge graph</a:t>
            </a:r>
            <a:endParaRPr lang="en-US" sz="950" noProof="1"/>
          </a:p>
        </p:txBody>
      </p:sp>
      <p:sp>
        <p:nvSpPr>
          <p:cNvPr id="4" name="p3-agent-pill"/>
          <p:cNvSpPr/>
          <p:nvPr/>
        </p:nvSpPr>
        <p:spPr>
          <a:xfrm>
            <a:off x="5461000" y="736600"/>
            <a:ext cx="5334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FC3E4"/>
            </a:solidFill>
          </a:ln>
        </p:spPr>
      </p:sp>
      <p:sp>
        <p:nvSpPr>
          <p:cNvPr id="5" name="p3-agent-icon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5689600" y="82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1E6482"/>
          </a:solidFill>
          <a:ln>
            <a:noFill/>
          </a:ln>
        </p:spPr>
      </p:sp>
      <p:sp>
        <p:nvSpPr>
          <p:cNvPr id="6" name="p3-agent-t"/>
          <p:cNvSpPr txBox="1"/>
          <p:nvPr/>
        </p:nvSpPr>
        <p:spPr>
          <a:xfrm>
            <a:off x="6019800" y="736600"/>
            <a:ext cx="4699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1C2B3A"/>
                </a:solidFill>
                <a:latin typeface="MiSans"/>
                <a:ea typeface="MiSans"/>
              </a:rPr>
              <a:t>Decision &amp; Curation Agent</a:t>
            </a:r>
            <a:r>
              <a:rPr lang="en-US" sz="1050" noProof="1">
                <a:solidFill>
                  <a:srgbClr val="687078"/>
                </a:solidFill>
                <a:latin typeface="MiSans"/>
                <a:ea typeface="MiSans"/>
              </a:rPr>
              <a:t> — plans · retrieves · drafts · flags</a:t>
            </a:r>
            <a:endParaRPr lang="en-US" sz="1050" noProof="1"/>
          </a:p>
        </p:txBody>
      </p:sp>
      <p:sp>
        <p:nvSpPr>
          <p:cNvPr id="7" name="p3-agent-arrow"/>
          <p:cNvSpPr/>
          <p:nvPr>
            <p:extLst>
              <p:ext uri="{F5677B7D-0D2A-4D9B-9A5C-6D8D7D0E5A5D}">
                <pptd:line encoding="base64url">eyJ2aWV3Qm94IjpbMTIsMTRdLCJwb2ludHMiOiI2LDAgNiwxNCJ9</pptd:line>
              </p:ext>
            </p:extLst>
          </p:nvPr>
        </p:nvSpPr>
        <p:spPr>
          <a:xfrm>
            <a:off x="8051800" y="1143000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6" y="0"/>
                </a:moveTo>
                <a:lnTo>
                  <a:pt x="6" y="14"/>
                </a:lnTo>
              </a:path>
            </a:pathLst>
          </a:custGeom>
          <a:noFill/>
          <a:ln w="19050" cap="rnd">
            <a:solidFill>
              <a:srgbClr val="98A1A9"/>
            </a:solidFill>
            <a:round/>
            <a:headEnd type="arrow"/>
            <a:tailEnd type="arrow"/>
          </a:ln>
        </p:spPr>
      </p:sp>
      <p:sp>
        <p:nvSpPr>
          <p:cNvPr id="8" name="p3-outer-box"/>
          <p:cNvSpPr/>
          <p:nvPr/>
        </p:nvSpPr>
        <p:spPr>
          <a:xfrm>
            <a:off x="381000" y="1270000"/>
            <a:ext cx="15494000" cy="447040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5875">
            <a:solidFill>
              <a:srgbClr val="A9B6BE"/>
            </a:solidFill>
          </a:ln>
        </p:spPr>
      </p:sp>
      <p:sp>
        <p:nvSpPr>
          <p:cNvPr id="9" name="p3-outer-tab"/>
          <p:cNvSpPr/>
          <p:nvPr/>
        </p:nvSpPr>
        <p:spPr>
          <a:xfrm>
            <a:off x="558800" y="1168400"/>
            <a:ext cx="2743200" cy="20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A9B6BE"/>
            </a:solidFill>
          </a:ln>
        </p:spPr>
      </p:sp>
      <p:sp>
        <p:nvSpPr>
          <p:cNvPr id="10" name="p3-outer-tab-icon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660400" y="12065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1E6482"/>
          </a:solidFill>
          <a:ln>
            <a:noFill/>
          </a:ln>
        </p:spPr>
      </p:sp>
      <p:sp>
        <p:nvSpPr>
          <p:cNvPr id="11" name="p3-outer-tab-t"/>
          <p:cNvSpPr txBox="1"/>
          <p:nvPr/>
        </p:nvSpPr>
        <p:spPr>
          <a:xfrm>
            <a:off x="863600" y="1168400"/>
            <a:ext cx="238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1C2B3A"/>
                </a:solidFill>
                <a:latin typeface="MiSans"/>
                <a:ea typeface="MiSans"/>
              </a:rPr>
              <a:t>Document Context Layer</a:t>
            </a:r>
            <a:endParaRPr lang="en-US" sz="950" noProof="1"/>
          </a:p>
        </p:txBody>
      </p:sp>
      <p:sp>
        <p:nvSpPr>
          <p:cNvPr id="12" name="p3-l1-box"/>
          <p:cNvSpPr/>
          <p:nvPr/>
        </p:nvSpPr>
        <p:spPr>
          <a:xfrm>
            <a:off x="533400" y="1473200"/>
            <a:ext cx="15189200" cy="175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3" name="p3-l1-badge"/>
          <p:cNvSpPr/>
          <p:nvPr/>
        </p:nvSpPr>
        <p:spPr>
          <a:xfrm>
            <a:off x="685800" y="1574800"/>
            <a:ext cx="190500" cy="19050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14" name="p3-l1-badge-t"/>
          <p:cNvSpPr txBox="1"/>
          <p:nvPr/>
        </p:nvSpPr>
        <p:spPr>
          <a:xfrm>
            <a:off x="685800" y="15748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5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850" noProof="1"/>
          </a:p>
        </p:txBody>
      </p:sp>
      <p:sp>
        <p:nvSpPr>
          <p:cNvPr id="15" name="p3-l1-name"/>
          <p:cNvSpPr txBox="1"/>
          <p:nvPr/>
        </p:nvSpPr>
        <p:spPr>
          <a:xfrm>
            <a:off x="939800" y="1574800"/>
            <a:ext cx="3556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1C2B3A"/>
                </a:solidFill>
                <a:latin typeface="MiSans"/>
                <a:ea typeface="MiSans"/>
              </a:rPr>
              <a:t>Capture &amp; Parsing Layer</a:t>
            </a:r>
            <a:endParaRPr lang="en-US" sz="1050" noProof="1"/>
          </a:p>
        </p:txBody>
      </p:sp>
      <p:sp>
        <p:nvSpPr>
          <p:cNvPr id="16" name="p3-l1-outcome"/>
          <p:cNvSpPr txBox="1"/>
          <p:nvPr/>
        </p:nvSpPr>
        <p:spPr>
          <a:xfrm>
            <a:off x="4572000" y="1574800"/>
            <a:ext cx="889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87078"/>
                </a:solidFill>
                <a:latin typeface="MiSans"/>
                <a:ea typeface="MiSans"/>
              </a:rPr>
              <a:t>Turn scattered CI artifacts into accurate, token-efficient context</a:t>
            </a:r>
            <a:endParaRPr lang="en-US" sz="900" noProof="1"/>
          </a:p>
        </p:txBody>
      </p:sp>
      <p:sp>
        <p:nvSpPr>
          <p:cNvPr id="17" name="p3-l1-grp1"/>
          <p:cNvSpPr txBox="1"/>
          <p:nvPr/>
        </p:nvSpPr>
        <p:spPr>
          <a:xfrm>
            <a:off x="685800" y="1841500"/>
            <a:ext cx="3810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8C9390"/>
                </a:solidFill>
                <a:latin typeface="MiSans"/>
                <a:ea typeface="MiSans"/>
              </a:rPr>
              <a:t>CI KNOWLEDGE SOURCES</a:t>
            </a:r>
            <a:endParaRPr lang="en-US" sz="700" noProof="1"/>
          </a:p>
        </p:txBody>
      </p:sp>
      <p:sp>
        <p:nvSpPr>
          <p:cNvPr id="18" name="p3-s1-box"/>
          <p:cNvSpPr/>
          <p:nvPr/>
        </p:nvSpPr>
        <p:spPr>
          <a:xfrm>
            <a:off x="685800" y="2019300"/>
            <a:ext cx="19558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19" name="p3-s1-t"/>
          <p:cNvSpPr txBox="1"/>
          <p:nvPr/>
        </p:nvSpPr>
        <p:spPr>
          <a:xfrm>
            <a:off x="762000" y="20193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650" noProof="1" b="1">
                <a:solidFill>
                  <a:srgbClr val="2E3A45"/>
                </a:solidFill>
                <a:latin typeface="MiSans"/>
                <a:ea typeface="MiSans"/>
              </a:rPr>
              <a:t>VCO CI SharePoint</a:t>
            </a:r>
            <a:endParaRPr lang="en-US" sz="650" noProof="1"/>
          </a:p>
          <a:p>
            <a:pPr algn="l">
              <a:lnSpc>
                <a:spcPct val="115000"/>
              </a:lnSpc>
            </a:pPr>
            <a:r>
              <a:rPr lang="en-US" sz="650" noProof="1">
                <a:solidFill>
                  <a:srgbClr val="687078"/>
                </a:solidFill>
                <a:latin typeface="MiSans"/>
                <a:ea typeface="MiSans"/>
              </a:rPr>
              <a:t>DPO &amp; LP backcast decks</a:t>
            </a:r>
            <a:endParaRPr lang="en-US" sz="650" noProof="1"/>
          </a:p>
        </p:txBody>
      </p:sp>
      <p:sp>
        <p:nvSpPr>
          <p:cNvPr id="20" name="p3-s2-box"/>
          <p:cNvSpPr/>
          <p:nvPr/>
        </p:nvSpPr>
        <p:spPr>
          <a:xfrm>
            <a:off x="2717800" y="2019300"/>
            <a:ext cx="19558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21" name="p3-s2-t"/>
          <p:cNvSpPr txBox="1"/>
          <p:nvPr/>
        </p:nvSpPr>
        <p:spPr>
          <a:xfrm>
            <a:off x="2794000" y="20193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650" noProof="1" b="1">
                <a:solidFill>
                  <a:srgbClr val="2E3A45"/>
                </a:solidFill>
                <a:latin typeface="MiSans"/>
                <a:ea typeface="MiSans"/>
              </a:rPr>
              <a:t>Value Opportunity Tracker</a:t>
            </a:r>
            <a:endParaRPr lang="en-US" sz="650" noProof="1"/>
          </a:p>
          <a:p>
            <a:pPr algn="l">
              <a:lnSpc>
                <a:spcPct val="115000"/>
              </a:lnSpc>
            </a:pPr>
            <a:r>
              <a:rPr lang="en-US" sz="650" noProof="1">
                <a:solidFill>
                  <a:srgbClr val="687078"/>
                </a:solidFill>
                <a:latin typeface="MiSans"/>
                <a:ea typeface="MiSans"/>
              </a:rPr>
              <a:t>SharePoint List / Excel</a:t>
            </a:r>
            <a:endParaRPr lang="en-US" sz="650" noProof="1"/>
          </a:p>
        </p:txBody>
      </p:sp>
      <p:sp>
        <p:nvSpPr>
          <p:cNvPr id="22" name="p3-s3-box"/>
          <p:cNvSpPr/>
          <p:nvPr/>
        </p:nvSpPr>
        <p:spPr>
          <a:xfrm>
            <a:off x="685800" y="2413000"/>
            <a:ext cx="19558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23" name="p3-s3-t"/>
          <p:cNvSpPr txBox="1"/>
          <p:nvPr/>
        </p:nvSpPr>
        <p:spPr>
          <a:xfrm>
            <a:off x="762000" y="24130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650" noProof="1" b="1">
                <a:solidFill>
                  <a:srgbClr val="2E3A45"/>
                </a:solidFill>
                <a:latin typeface="MiSans"/>
                <a:ea typeface="MiSans"/>
              </a:rPr>
              <a:t>Planning DB / PIR</a:t>
            </a:r>
            <a:endParaRPr lang="en-US" sz="650" noProof="1"/>
          </a:p>
          <a:p>
            <a:pPr algn="l">
              <a:lnSpc>
                <a:spcPct val="115000"/>
              </a:lnSpc>
            </a:pPr>
            <a:r>
              <a:rPr lang="en-US" sz="650" noProof="1">
                <a:solidFill>
                  <a:srgbClr val="687078"/>
                </a:solidFill>
                <a:latin typeface="MiSans"/>
                <a:ea typeface="MiSans"/>
              </a:rPr>
              <a:t>Structured CI data &amp; LPO reports</a:t>
            </a:r>
            <a:endParaRPr lang="en-US" sz="650" noProof="1"/>
          </a:p>
        </p:txBody>
      </p:sp>
      <p:sp>
        <p:nvSpPr>
          <p:cNvPr id="24" name="p3-s4-box"/>
          <p:cNvSpPr/>
          <p:nvPr/>
        </p:nvSpPr>
        <p:spPr>
          <a:xfrm>
            <a:off x="2717800" y="2413000"/>
            <a:ext cx="19558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25" name="p3-s4-t"/>
          <p:cNvSpPr txBox="1"/>
          <p:nvPr/>
        </p:nvSpPr>
        <p:spPr>
          <a:xfrm>
            <a:off x="2794000" y="24130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650" noProof="1" b="1">
                <a:solidFill>
                  <a:srgbClr val="2E3A45"/>
                </a:solidFill>
                <a:latin typeface="MiSans"/>
                <a:ea typeface="MiSans"/>
              </a:rPr>
              <a:t>Email Chains</a:t>
            </a:r>
            <a:endParaRPr lang="en-US" sz="650" noProof="1"/>
          </a:p>
          <a:p>
            <a:pPr algn="l">
              <a:lnSpc>
                <a:spcPct val="115000"/>
              </a:lnSpc>
            </a:pPr>
            <a:r>
              <a:rPr lang="en-US" sz="650" noProof="1">
                <a:solidFill>
                  <a:srgbClr val="687078"/>
                </a:solidFill>
                <a:latin typeface="MiSans"/>
                <a:ea typeface="MiSans"/>
              </a:rPr>
              <a:t>Weekly VCO Forecast Updates</a:t>
            </a:r>
            <a:endParaRPr lang="en-US" sz="650" noProof="1"/>
          </a:p>
        </p:txBody>
      </p:sp>
      <p:sp>
        <p:nvSpPr>
          <p:cNvPr id="26" name="p3-s5-box"/>
          <p:cNvSpPr/>
          <p:nvPr/>
        </p:nvSpPr>
        <p:spPr>
          <a:xfrm>
            <a:off x="685800" y="2806700"/>
            <a:ext cx="19558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27" name="p3-s5-t"/>
          <p:cNvSpPr txBox="1"/>
          <p:nvPr/>
        </p:nvSpPr>
        <p:spPr>
          <a:xfrm>
            <a:off x="762000" y="28067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650" noProof="1" b="1">
                <a:solidFill>
                  <a:srgbClr val="2E3A45"/>
                </a:solidFill>
                <a:latin typeface="MiSans"/>
                <a:ea typeface="MiSans"/>
              </a:rPr>
              <a:t>MS Teams</a:t>
            </a:r>
            <a:endParaRPr lang="en-US" sz="650" noProof="1"/>
          </a:p>
          <a:p>
            <a:pPr algn="l">
              <a:lnSpc>
                <a:spcPct val="115000"/>
              </a:lnSpc>
            </a:pPr>
            <a:r>
              <a:rPr lang="en-US" sz="650" noProof="1">
                <a:solidFill>
                  <a:srgbClr val="687078"/>
                </a:solidFill>
                <a:latin typeface="MiSans"/>
                <a:ea typeface="MiSans"/>
              </a:rPr>
              <a:t>Meeting recordings &amp; transcripts</a:t>
            </a:r>
            <a:endParaRPr lang="en-US" sz="650" noProof="1"/>
          </a:p>
        </p:txBody>
      </p:sp>
      <p:sp>
        <p:nvSpPr>
          <p:cNvPr id="28" name="p3-s6-box"/>
          <p:cNvSpPr/>
          <p:nvPr/>
        </p:nvSpPr>
        <p:spPr>
          <a:xfrm>
            <a:off x="2717800" y="2806700"/>
            <a:ext cx="19558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29" name="p3-s6-t"/>
          <p:cNvSpPr txBox="1"/>
          <p:nvPr/>
        </p:nvSpPr>
        <p:spPr>
          <a:xfrm>
            <a:off x="2794000" y="28067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650" noProof="1" b="1">
                <a:solidFill>
                  <a:srgbClr val="2E3A45"/>
                </a:solidFill>
                <a:latin typeface="MiSans"/>
                <a:ea typeface="MiSans"/>
              </a:rPr>
              <a:t>OneNote &amp; Working Notes</a:t>
            </a:r>
            <a:endParaRPr lang="en-US" sz="650" noProof="1"/>
          </a:p>
          <a:p>
            <a:pPr algn="l">
              <a:lnSpc>
                <a:spcPct val="115000"/>
              </a:lnSpc>
            </a:pPr>
            <a:r>
              <a:rPr lang="en-US" sz="650" noProof="1">
                <a:solidFill>
                  <a:srgbClr val="687078"/>
                </a:solidFill>
                <a:latin typeface="MiSans"/>
                <a:ea typeface="MiSans"/>
              </a:rPr>
              <a:t>Informal SME knowledge</a:t>
            </a:r>
            <a:endParaRPr lang="en-US" sz="650" noProof="1"/>
          </a:p>
        </p:txBody>
      </p:sp>
      <p:sp>
        <p:nvSpPr>
          <p:cNvPr id="30" name="p3-l1-grp2"/>
          <p:cNvSpPr txBox="1"/>
          <p:nvPr/>
        </p:nvSpPr>
        <p:spPr>
          <a:xfrm>
            <a:off x="4826000" y="1841500"/>
            <a:ext cx="2540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8C9390"/>
                </a:solidFill>
                <a:latin typeface="MiSans"/>
                <a:ea typeface="MiSans"/>
              </a:rPr>
              <a:t>FEEDS</a:t>
            </a:r>
            <a:endParaRPr lang="en-US" sz="700" noProof="1"/>
          </a:p>
        </p:txBody>
      </p:sp>
      <p:sp>
        <p:nvSpPr>
          <p:cNvPr id="31" name="p3-f1-box"/>
          <p:cNvSpPr/>
          <p:nvPr/>
        </p:nvSpPr>
        <p:spPr>
          <a:xfrm>
            <a:off x="4826000" y="2019300"/>
            <a:ext cx="12954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32" name="p3-f1-t"/>
          <p:cNvSpPr txBox="1"/>
          <p:nvPr/>
        </p:nvSpPr>
        <p:spPr>
          <a:xfrm>
            <a:off x="4826000" y="2019300"/>
            <a:ext cx="1295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5000"/>
              </a:lnSpc>
            </a:pPr>
            <a:r>
              <a:rPr lang="en-US" sz="650" noProof="1">
                <a:solidFill>
                  <a:srgbClr val="3A4650"/>
                </a:solidFill>
                <a:latin typeface="MiSans"/>
                <a:ea typeface="MiSans"/>
              </a:rPr>
              <a:t>Graph API connectors &amp; PBI Rest API</a:t>
            </a:r>
            <a:endParaRPr lang="en-US" sz="650" noProof="1"/>
          </a:p>
        </p:txBody>
      </p:sp>
      <p:sp>
        <p:nvSpPr>
          <p:cNvPr id="33" name="p3-f2-box"/>
          <p:cNvSpPr/>
          <p:nvPr/>
        </p:nvSpPr>
        <p:spPr>
          <a:xfrm>
            <a:off x="6197600" y="2019300"/>
            <a:ext cx="12954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34" name="p3-f2-t"/>
          <p:cNvSpPr txBox="1"/>
          <p:nvPr/>
        </p:nvSpPr>
        <p:spPr>
          <a:xfrm>
            <a:off x="6197600" y="2019300"/>
            <a:ext cx="1295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5000"/>
              </a:lnSpc>
            </a:pPr>
            <a:r>
              <a:rPr lang="en-US" sz="650" noProof="1">
                <a:solidFill>
                  <a:srgbClr val="3A4650"/>
                </a:solidFill>
                <a:latin typeface="MiSans"/>
                <a:ea typeface="MiSans"/>
              </a:rPr>
              <a:t>Scheduled batch crawl</a:t>
            </a:r>
            <a:endParaRPr lang="en-US" sz="650" noProof="1"/>
          </a:p>
        </p:txBody>
      </p:sp>
      <p:sp>
        <p:nvSpPr>
          <p:cNvPr id="35" name="p3-f3-box"/>
          <p:cNvSpPr/>
          <p:nvPr/>
        </p:nvSpPr>
        <p:spPr>
          <a:xfrm>
            <a:off x="4826000" y="2413000"/>
            <a:ext cx="12954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36" name="p3-f3-t"/>
          <p:cNvSpPr txBox="1"/>
          <p:nvPr/>
        </p:nvSpPr>
        <p:spPr>
          <a:xfrm>
            <a:off x="4826000" y="2413000"/>
            <a:ext cx="1295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5000"/>
              </a:lnSpc>
            </a:pPr>
            <a:r>
              <a:rPr lang="en-US" sz="650" noProof="1">
                <a:solidFill>
                  <a:srgbClr val="3A4650"/>
                </a:solidFill>
                <a:latin typeface="MiSans"/>
                <a:ea typeface="MiSans"/>
              </a:rPr>
              <a:t>Event triggers (new file posted)</a:t>
            </a:r>
            <a:endParaRPr lang="en-US" sz="650" noProof="1"/>
          </a:p>
        </p:txBody>
      </p:sp>
      <p:sp>
        <p:nvSpPr>
          <p:cNvPr id="37" name="p3-f4-box"/>
          <p:cNvSpPr/>
          <p:nvPr/>
        </p:nvSpPr>
        <p:spPr>
          <a:xfrm>
            <a:off x="6197600" y="2413000"/>
            <a:ext cx="1295400" cy="3302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38" name="p3-f4-t"/>
          <p:cNvSpPr txBox="1"/>
          <p:nvPr/>
        </p:nvSpPr>
        <p:spPr>
          <a:xfrm>
            <a:off x="6197600" y="2413000"/>
            <a:ext cx="1295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5000"/>
              </a:lnSpc>
            </a:pPr>
            <a:r>
              <a:rPr lang="en-US" sz="650" noProof="1">
                <a:solidFill>
                  <a:srgbClr val="3A4650"/>
                </a:solidFill>
                <a:latin typeface="MiSans"/>
                <a:ea typeface="MiSans"/>
              </a:rPr>
              <a:t>Manual SME upload</a:t>
            </a:r>
            <a:endParaRPr lang="en-US" sz="650" noProof="1"/>
          </a:p>
        </p:txBody>
      </p:sp>
      <p:sp>
        <p:nvSpPr>
          <p:cNvPr id="39" name="p3-l1-grp3"/>
          <p:cNvSpPr txBox="1"/>
          <p:nvPr/>
        </p:nvSpPr>
        <p:spPr>
          <a:xfrm>
            <a:off x="7772400" y="1841500"/>
            <a:ext cx="3810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8C9390"/>
                </a:solidFill>
                <a:latin typeface="MiSans"/>
                <a:ea typeface="MiSans"/>
              </a:rPr>
              <a:t>AI DATA PROCESSING</a:t>
            </a:r>
            <a:endParaRPr lang="en-US" sz="700" noProof="1"/>
          </a:p>
        </p:txBody>
      </p:sp>
      <p:sp>
        <p:nvSpPr>
          <p:cNvPr id="40" name="p3-trad-box"/>
          <p:cNvSpPr/>
          <p:nvPr/>
        </p:nvSpPr>
        <p:spPr>
          <a:xfrm>
            <a:off x="7772400" y="2019300"/>
            <a:ext cx="3810000" cy="11176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41" name="p3-trad-t"/>
          <p:cNvSpPr txBox="1"/>
          <p:nvPr/>
        </p:nvSpPr>
        <p:spPr>
          <a:xfrm>
            <a:off x="7874000" y="2070100"/>
            <a:ext cx="36068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3A4650"/>
                </a:solidFill>
                <a:latin typeface="MiSans"/>
                <a:ea typeface="MiSans"/>
              </a:rPr>
              <a:t>TRADITIONAL AI / ML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OCR &amp; layout extraction</a:t>
            </a:r>
            <a:endParaRPr lang="en-US" sz="750" noProof="1"/>
          </a:p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Speech-to-text</a:t>
            </a:r>
            <a:endParaRPr lang="en-US" sz="750" noProof="1"/>
          </a:p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Document classification</a:t>
            </a:r>
            <a:endParaRPr lang="en-US" sz="750" noProof="1"/>
          </a:p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Duplicate / near-duplicate detection</a:t>
            </a:r>
            <a:endParaRPr lang="en-US" sz="750" noProof="1"/>
          </a:p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3A4650"/>
                </a:solidFill>
                <a:latin typeface="MiSans"/>
                <a:ea typeface="MiSans"/>
              </a:rPr>
              <a:t>• Table extraction (Excel / PDF)</a:t>
            </a:r>
            <a:endParaRPr lang="en-US" sz="750" noProof="1"/>
          </a:p>
        </p:txBody>
      </p:sp>
      <p:sp>
        <p:nvSpPr>
          <p:cNvPr id="42" name="p3-llm-box"/>
          <p:cNvSpPr/>
          <p:nvPr/>
        </p:nvSpPr>
        <p:spPr>
          <a:xfrm>
            <a:off x="11709400" y="2019300"/>
            <a:ext cx="3860800" cy="1117600"/>
          </a:xfrm>
          <a:prstGeom prst="rect">
            <a:avLst/>
          </a:prstGeom>
          <a:solidFill>
            <a:srgbClr val="C1E5F5"/>
          </a:solidFill>
          <a:ln w="12700">
            <a:solidFill>
              <a:srgbClr val="8FC3E4"/>
            </a:solidFill>
          </a:ln>
        </p:spPr>
      </p:sp>
      <p:sp>
        <p:nvSpPr>
          <p:cNvPr id="43" name="p3-llm-t"/>
          <p:cNvSpPr txBox="1"/>
          <p:nvPr/>
        </p:nvSpPr>
        <p:spPr>
          <a:xfrm>
            <a:off x="11811000" y="2070100"/>
            <a:ext cx="3657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4333F"/>
                </a:solidFill>
                <a:latin typeface="MiSans"/>
                <a:ea typeface="MiSans"/>
              </a:rPr>
              <a:t>LLM CURATION — drafts only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Template extraction - lessons, decision rationale, considerations</a:t>
            </a:r>
            <a:endParaRPr lang="en-US" sz="750" noProof="1"/>
          </a:p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Taxonomy tagging - domain, region, knowledge type</a:t>
            </a:r>
            <a:endParaRPr lang="en-US" sz="750" noProof="1"/>
          </a:p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Summarization · Entity &amp; relationship extraction</a:t>
            </a:r>
            <a:endParaRPr lang="en-US" sz="750" noProof="1"/>
          </a:p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Initial confidence scoring</a:t>
            </a:r>
            <a:endParaRPr lang="en-US" sz="750" noProof="1"/>
          </a:p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• Embedding &amp; chunking - metadata-carrying vectors</a:t>
            </a:r>
            <a:endParaRPr lang="en-US" sz="750" noProof="1"/>
          </a:p>
        </p:txBody>
      </p:sp>
      <p:sp>
        <p:nvSpPr>
          <p:cNvPr id="44" name="p3-llm-badge"/>
          <p:cNvSpPr/>
          <p:nvPr/>
        </p:nvSpPr>
        <p:spPr>
          <a:xfrm>
            <a:off x="11607800" y="1917700"/>
            <a:ext cx="203200" cy="20320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45" name="p3-llm-badge-t"/>
          <p:cNvSpPr txBox="1"/>
          <p:nvPr/>
        </p:nvSpPr>
        <p:spPr>
          <a:xfrm>
            <a:off x="11607800" y="19177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900" noProof="1"/>
          </a:p>
        </p:txBody>
      </p:sp>
      <p:sp>
        <p:nvSpPr>
          <p:cNvPr id="46" name="p3-l2-box"/>
          <p:cNvSpPr/>
          <p:nvPr/>
        </p:nvSpPr>
        <p:spPr>
          <a:xfrm>
            <a:off x="533400" y="3302000"/>
            <a:ext cx="15189200" cy="111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47" name="p3-l2-badge"/>
          <p:cNvSpPr/>
          <p:nvPr/>
        </p:nvSpPr>
        <p:spPr>
          <a:xfrm>
            <a:off x="685800" y="3390900"/>
            <a:ext cx="190500" cy="19050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48" name="p3-l2-badge-t"/>
          <p:cNvSpPr txBox="1"/>
          <p:nvPr/>
        </p:nvSpPr>
        <p:spPr>
          <a:xfrm>
            <a:off x="685800" y="33909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50" noProof="1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850" noProof="1"/>
          </a:p>
        </p:txBody>
      </p:sp>
      <p:sp>
        <p:nvSpPr>
          <p:cNvPr id="49" name="p3-l2-name"/>
          <p:cNvSpPr txBox="1"/>
          <p:nvPr/>
        </p:nvSpPr>
        <p:spPr>
          <a:xfrm>
            <a:off x="939800" y="3390900"/>
            <a:ext cx="3556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1C2B3A"/>
                </a:solidFill>
                <a:latin typeface="MiSans"/>
                <a:ea typeface="MiSans"/>
              </a:rPr>
              <a:t>Governed Knowledge Layer</a:t>
            </a:r>
            <a:endParaRPr lang="en-US" sz="1050" noProof="1"/>
          </a:p>
        </p:txBody>
      </p:sp>
      <p:sp>
        <p:nvSpPr>
          <p:cNvPr id="50" name="p3-l2-outcome"/>
          <p:cNvSpPr txBox="1"/>
          <p:nvPr/>
        </p:nvSpPr>
        <p:spPr>
          <a:xfrm>
            <a:off x="4572000" y="33909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87078"/>
                </a:solidFill>
                <a:latin typeface="MiSans"/>
                <a:ea typeface="MiSans"/>
              </a:rPr>
              <a:t>One source of truth that humans and agents can both trust — and correct</a:t>
            </a:r>
            <a:endParaRPr lang="en-US" sz="900" noProof="1"/>
          </a:p>
        </p:txBody>
      </p:sp>
      <p:sp>
        <p:nvSpPr>
          <p:cNvPr id="51" name="p3-pf1-box"/>
          <p:cNvSpPr/>
          <p:nvPr/>
        </p:nvSpPr>
        <p:spPr>
          <a:xfrm>
            <a:off x="685800" y="3632200"/>
            <a:ext cx="23495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52" name="p3-pf1-t"/>
          <p:cNvSpPr txBox="1"/>
          <p:nvPr/>
        </p:nvSpPr>
        <p:spPr>
          <a:xfrm>
            <a:off x="774700" y="3632200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Knowledge Repository &amp; Storage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Raw + contextualized assets — humans and agents edit, version, collaborate</a:t>
            </a:r>
            <a:endParaRPr lang="en-US" sz="750" noProof="1"/>
          </a:p>
        </p:txBody>
      </p:sp>
      <p:sp>
        <p:nvSpPr>
          <p:cNvPr id="53" name="p3-pf2-box"/>
          <p:cNvSpPr/>
          <p:nvPr/>
        </p:nvSpPr>
        <p:spPr>
          <a:xfrm>
            <a:off x="3162300" y="3632200"/>
            <a:ext cx="23495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54" name="p3-pf2-t"/>
          <p:cNvSpPr txBox="1"/>
          <p:nvPr/>
        </p:nvSpPr>
        <p:spPr>
          <a:xfrm>
            <a:off x="3251200" y="3632200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Aligned Taxonomy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Common metadata for all sources</a:t>
            </a:r>
            <a:endParaRPr lang="en-US" sz="750" noProof="1"/>
          </a:p>
        </p:txBody>
      </p:sp>
      <p:sp>
        <p:nvSpPr>
          <p:cNvPr id="55" name="p3-pf3-box"/>
          <p:cNvSpPr/>
          <p:nvPr/>
        </p:nvSpPr>
        <p:spPr>
          <a:xfrm>
            <a:off x="5638800" y="3632200"/>
            <a:ext cx="2349500" cy="685800"/>
          </a:xfrm>
          <a:prstGeom prst="rect">
            <a:avLst/>
          </a:prstGeom>
          <a:solidFill>
            <a:srgbClr val="C1E5F5"/>
          </a:solidFill>
          <a:ln w="12700">
            <a:solidFill>
              <a:srgbClr val="8FC3E4"/>
            </a:solidFill>
          </a:ln>
        </p:spPr>
      </p:sp>
      <p:sp>
        <p:nvSpPr>
          <p:cNvPr id="56" name="p3-pf3-t"/>
          <p:cNvSpPr txBox="1"/>
          <p:nvPr/>
        </p:nvSpPr>
        <p:spPr>
          <a:xfrm>
            <a:off x="5727700" y="3632200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1C2B3A"/>
                </a:solidFill>
                <a:latin typeface="MiSans"/>
                <a:ea typeface="MiSans"/>
              </a:rPr>
              <a:t>Knowledge Graph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24333F"/>
                </a:solidFill>
                <a:latin typeface="MiSans"/>
                <a:ea typeface="MiSans"/>
              </a:rPr>
              <a:t>decisions ↔ lessons ↔ outcomes ↔ assets ↔ SMEs</a:t>
            </a:r>
            <a:endParaRPr lang="en-US" sz="750" noProof="1"/>
          </a:p>
        </p:txBody>
      </p:sp>
      <p:sp>
        <p:nvSpPr>
          <p:cNvPr id="57" name="p3-pf4-box"/>
          <p:cNvSpPr/>
          <p:nvPr/>
        </p:nvSpPr>
        <p:spPr>
          <a:xfrm>
            <a:off x="8115300" y="3632200"/>
            <a:ext cx="23495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58" name="p3-pf4-t"/>
          <p:cNvSpPr txBox="1"/>
          <p:nvPr/>
        </p:nvSpPr>
        <p:spPr>
          <a:xfrm>
            <a:off x="8204200" y="3632200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Vector + Keyword Index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Metadata-carrying embeddings for semantic search</a:t>
            </a:r>
            <a:endParaRPr lang="en-US" sz="750" noProof="1"/>
          </a:p>
        </p:txBody>
      </p:sp>
      <p:sp>
        <p:nvSpPr>
          <p:cNvPr id="59" name="p3-pf5-box"/>
          <p:cNvSpPr/>
          <p:nvPr/>
        </p:nvSpPr>
        <p:spPr>
          <a:xfrm>
            <a:off x="10591800" y="3632200"/>
            <a:ext cx="23495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60" name="p3-pf5-t"/>
          <p:cNvSpPr txBox="1"/>
          <p:nvPr/>
        </p:nvSpPr>
        <p:spPr>
          <a:xfrm>
            <a:off x="10680700" y="3632200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Hybrid Retrieval &amp; Ranking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Semantic + keyword + graph traversal, fused</a:t>
            </a:r>
            <a:endParaRPr lang="en-US" sz="750" noProof="1"/>
          </a:p>
        </p:txBody>
      </p:sp>
      <p:sp>
        <p:nvSpPr>
          <p:cNvPr id="61" name="p3-pf6-box"/>
          <p:cNvSpPr/>
          <p:nvPr/>
        </p:nvSpPr>
        <p:spPr>
          <a:xfrm>
            <a:off x="13068300" y="3632200"/>
            <a:ext cx="25019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1E6482"/>
            </a:solidFill>
            <a:prstDash val="dash"/>
          </a:ln>
        </p:spPr>
      </p:sp>
      <p:sp>
        <p:nvSpPr>
          <p:cNvPr id="62" name="p3-pf6-t"/>
          <p:cNvSpPr txBox="1"/>
          <p:nvPr/>
        </p:nvSpPr>
        <p:spPr>
          <a:xfrm>
            <a:off x="13157200" y="3632200"/>
            <a:ext cx="23241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Quality &amp; Confidence Layer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Tiered High / Medium / Low · persistent source links</a:t>
            </a:r>
            <a:endParaRPr lang="en-US" sz="750" noProof="1"/>
          </a:p>
        </p:txBody>
      </p:sp>
      <p:sp>
        <p:nvSpPr>
          <p:cNvPr id="63" name="p3-l3-box"/>
          <p:cNvSpPr/>
          <p:nvPr/>
        </p:nvSpPr>
        <p:spPr>
          <a:xfrm>
            <a:off x="533400" y="4495800"/>
            <a:ext cx="15189200" cy="111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64" name="p3-l3-icon"/>
          <p:cNvSpPr/>
          <p:nvPr>
            <p:extLst>
              <p:ext uri="{F5677B7D-0D2A-4D9B-9A5C-6D8D7D0E5A5D}">
                <pptd:icon encoding="base64url">eyJpY29uTmFtZSI6ImZhczphcnJvd3Mtcm90YXRlIn0</pptd:icon>
              </p:ext>
            </p:extLst>
          </p:nvPr>
        </p:nvSpPr>
        <p:spPr>
          <a:xfrm>
            <a:off x="685800" y="4572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1E6482"/>
          </a:solidFill>
          <a:ln>
            <a:noFill/>
          </a:ln>
        </p:spPr>
      </p:sp>
      <p:sp>
        <p:nvSpPr>
          <p:cNvPr id="65" name="p3-l3-name"/>
          <p:cNvSpPr txBox="1"/>
          <p:nvPr/>
        </p:nvSpPr>
        <p:spPr>
          <a:xfrm>
            <a:off x="939800" y="4572000"/>
            <a:ext cx="3556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1C2B3A"/>
                </a:solidFill>
                <a:latin typeface="MiSans"/>
                <a:ea typeface="MiSans"/>
              </a:rPr>
              <a:t>Delivery &amp; Workflow Layer</a:t>
            </a:r>
            <a:endParaRPr lang="en-US" sz="1050" noProof="1"/>
          </a:p>
        </p:txBody>
      </p:sp>
      <p:sp>
        <p:nvSpPr>
          <p:cNvPr id="66" name="p3-l3-outcome"/>
          <p:cNvSpPr txBox="1"/>
          <p:nvPr/>
        </p:nvSpPr>
        <p:spPr>
          <a:xfrm>
            <a:off x="4572000" y="45720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87078"/>
                </a:solidFill>
                <a:latin typeface="MiSans"/>
                <a:ea typeface="MiSans"/>
              </a:rPr>
              <a:t>Hillclimb repeatable decision workflows — higher accuracy, lower cost</a:t>
            </a:r>
            <a:endParaRPr lang="en-US" sz="900" noProof="1"/>
          </a:p>
        </p:txBody>
      </p:sp>
      <p:sp>
        <p:nvSpPr>
          <p:cNvPr id="67" name="p3-ac1-box"/>
          <p:cNvSpPr/>
          <p:nvPr/>
        </p:nvSpPr>
        <p:spPr>
          <a:xfrm>
            <a:off x="685800" y="4826000"/>
            <a:ext cx="13716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68" name="p3-ac1-t"/>
          <p:cNvSpPr txBox="1"/>
          <p:nvPr/>
        </p:nvSpPr>
        <p:spPr>
          <a:xfrm>
            <a:off x="762000" y="4826000"/>
            <a:ext cx="1219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Filter &amp; Search</a:t>
            </a:r>
            <a:endParaRPr lang="en-US" sz="7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687078"/>
                </a:solidFill>
                <a:latin typeface="MiSans"/>
                <a:ea typeface="MiSans"/>
              </a:rPr>
              <a:t>Domain · region · tier</a:t>
            </a:r>
            <a:endParaRPr lang="en-US" sz="700" noProof="1"/>
          </a:p>
        </p:txBody>
      </p:sp>
      <p:sp>
        <p:nvSpPr>
          <p:cNvPr id="69" name="p3-ac2-box"/>
          <p:cNvSpPr/>
          <p:nvPr/>
        </p:nvSpPr>
        <p:spPr>
          <a:xfrm>
            <a:off x="2159000" y="4826000"/>
            <a:ext cx="13716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70" name="p3-ac2-t"/>
          <p:cNvSpPr txBox="1"/>
          <p:nvPr/>
        </p:nvSpPr>
        <p:spPr>
          <a:xfrm>
            <a:off x="2235200" y="4826000"/>
            <a:ext cx="1219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Query Assistant</a:t>
            </a:r>
            <a:endParaRPr lang="en-US" sz="7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687078"/>
                </a:solidFill>
                <a:latin typeface="MiSans"/>
                <a:ea typeface="MiSans"/>
              </a:rPr>
              <a:t>Citations + confidence badges</a:t>
            </a:r>
            <a:endParaRPr lang="en-US" sz="700" noProof="1"/>
          </a:p>
        </p:txBody>
      </p:sp>
      <p:sp>
        <p:nvSpPr>
          <p:cNvPr id="71" name="p3-ac3-box"/>
          <p:cNvSpPr/>
          <p:nvPr/>
        </p:nvSpPr>
        <p:spPr>
          <a:xfrm>
            <a:off x="3632200" y="4826000"/>
            <a:ext cx="13716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72" name="p3-ac3-t"/>
          <p:cNvSpPr txBox="1"/>
          <p:nvPr/>
        </p:nvSpPr>
        <p:spPr>
          <a:xfrm>
            <a:off x="3708400" y="4826000"/>
            <a:ext cx="1219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APIs / MCP</a:t>
            </a:r>
            <a:endParaRPr lang="en-US" sz="7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687078"/>
                </a:solidFill>
                <a:latin typeface="MiSans"/>
                <a:ea typeface="MiSans"/>
              </a:rPr>
              <a:t>Knowledge connections to other tools</a:t>
            </a:r>
            <a:endParaRPr lang="en-US" sz="700" noProof="1"/>
          </a:p>
        </p:txBody>
      </p:sp>
      <p:sp>
        <p:nvSpPr>
          <p:cNvPr id="73" name="p3-ac4-box"/>
          <p:cNvSpPr/>
          <p:nvPr/>
        </p:nvSpPr>
        <p:spPr>
          <a:xfrm>
            <a:off x="5105400" y="4826000"/>
            <a:ext cx="13716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74" name="p3-ac4-t"/>
          <p:cNvSpPr txBox="1"/>
          <p:nvPr/>
        </p:nvSpPr>
        <p:spPr>
          <a:xfrm>
            <a:off x="5181600" y="4826000"/>
            <a:ext cx="1219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Notification Alerts</a:t>
            </a:r>
            <a:endParaRPr lang="en-US" sz="7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687078"/>
                </a:solidFill>
                <a:latin typeface="MiSans"/>
                <a:ea typeface="MiSans"/>
              </a:rPr>
              <a:t>Considerations for business users</a:t>
            </a:r>
            <a:endParaRPr lang="en-US" sz="700" noProof="1"/>
          </a:p>
        </p:txBody>
      </p:sp>
      <p:sp>
        <p:nvSpPr>
          <p:cNvPr id="75" name="p3-ac5-box"/>
          <p:cNvSpPr/>
          <p:nvPr/>
        </p:nvSpPr>
        <p:spPr>
          <a:xfrm>
            <a:off x="6578600" y="4826000"/>
            <a:ext cx="1422400" cy="685800"/>
          </a:xfrm>
          <a:prstGeom prst="rect">
            <a:avLst/>
          </a:prstGeom>
          <a:solidFill>
            <a:srgbClr val="C1E5F5"/>
          </a:solidFill>
          <a:ln w="12700">
            <a:solidFill>
              <a:srgbClr val="8FC3E4"/>
            </a:solidFill>
          </a:ln>
        </p:spPr>
      </p:sp>
      <p:sp>
        <p:nvSpPr>
          <p:cNvPr id="76" name="p3-ac5-t"/>
          <p:cNvSpPr txBox="1"/>
          <p:nvPr/>
        </p:nvSpPr>
        <p:spPr>
          <a:xfrm>
            <a:off x="6654800" y="4826000"/>
            <a:ext cx="1270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700" noProof="1" b="1">
                <a:solidFill>
                  <a:srgbClr val="1C2B3A"/>
                </a:solidFill>
                <a:latin typeface="MiSans"/>
                <a:ea typeface="MiSans"/>
              </a:rPr>
              <a:t>Decision-Support Agents</a:t>
            </a:r>
            <a:endParaRPr lang="en-US" sz="700" noProof="1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700" noProof="1" b="1">
                <a:solidFill>
                  <a:srgbClr val="1E6482"/>
                </a:solidFill>
                <a:latin typeface="MiSans"/>
                <a:ea typeface="MiSans"/>
              </a:rPr>
              <a:t>AGENT-NATIVE</a:t>
            </a:r>
            <a:endParaRPr lang="en-US" sz="700" noProof="1"/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lang="en-US" sz="700" noProof="1">
                <a:solidFill>
                  <a:srgbClr val="687078"/>
                </a:solidFill>
                <a:latin typeface="MiSans"/>
                <a:ea typeface="MiSans"/>
              </a:rPr>
              <a:t>Proactive lesson surfacing · gap detection</a:t>
            </a:r>
            <a:endParaRPr lang="en-US" sz="700" noProof="1"/>
          </a:p>
        </p:txBody>
      </p:sp>
      <p:sp>
        <p:nvSpPr>
          <p:cNvPr id="77" name="p3-l3-divider"/>
          <p:cNvSpPr/>
          <p:nvPr>
            <p:extLst>
              <p:ext uri="{F5677B7D-0D2A-4D9B-9A5C-6D8D7D0E5A5D}">
                <pptd:line encoding="base64url">eyJ2aWV3Qm94IjpbMSw1NF0sInBvaW50cyI6IjAuNSwwIDAuNSw1NCIsImN1cnZlIjoic2hhcnAifQ</pptd:line>
              </p:ext>
            </p:extLst>
          </p:nvPr>
        </p:nvSpPr>
        <p:spPr>
          <a:xfrm>
            <a:off x="8153400" y="4826000"/>
            <a:ext cx="12700" cy="685800"/>
          </a:xfrm>
          <a:custGeom>
            <a:avLst/>
            <a:gdLst/>
            <a:ahLst/>
            <a:cxnLst/>
            <a:rect l="l" t="t" r="r" b="b"/>
            <a:pathLst>
              <a:path w="1" h="54">
                <a:moveTo>
                  <a:pt x="1" y="0"/>
                </a:moveTo>
                <a:lnTo>
                  <a:pt x="1" y="54"/>
                </a:lnTo>
              </a:path>
            </a:pathLst>
          </a:custGeom>
          <a:noFill/>
          <a:ln w="12700">
            <a:solidFill>
              <a:srgbClr val="D8DDE0"/>
            </a:solidFill>
          </a:ln>
        </p:spPr>
      </p:sp>
      <p:sp>
        <p:nvSpPr>
          <p:cNvPr id="78" name="p3-cn1-box"/>
          <p:cNvSpPr/>
          <p:nvPr/>
        </p:nvSpPr>
        <p:spPr>
          <a:xfrm>
            <a:off x="8382000" y="4826000"/>
            <a:ext cx="23114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79" name="p3-cn1-t"/>
          <p:cNvSpPr txBox="1"/>
          <p:nvPr/>
        </p:nvSpPr>
        <p:spPr>
          <a:xfrm>
            <a:off x="8483600" y="4826000"/>
            <a:ext cx="2108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VCO Planning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VCO XPIMS / DPO Planning Team</a:t>
            </a:r>
            <a:endParaRPr lang="en-US" sz="750" noProof="1"/>
          </a:p>
        </p:txBody>
      </p:sp>
      <p:sp>
        <p:nvSpPr>
          <p:cNvPr id="80" name="p3-cn2-box"/>
          <p:cNvSpPr/>
          <p:nvPr/>
        </p:nvSpPr>
        <p:spPr>
          <a:xfrm>
            <a:off x="10820400" y="4826000"/>
            <a:ext cx="23114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81" name="p3-cn2-t"/>
          <p:cNvSpPr txBox="1"/>
          <p:nvPr/>
        </p:nvSpPr>
        <p:spPr>
          <a:xfrm>
            <a:off x="10922000" y="4826000"/>
            <a:ext cx="2108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VCO CI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VCO CI Lookback &amp; Backcasting Teams</a:t>
            </a:r>
            <a:endParaRPr lang="en-US" sz="750" noProof="1"/>
          </a:p>
        </p:txBody>
      </p:sp>
      <p:sp>
        <p:nvSpPr>
          <p:cNvPr id="82" name="p3-cn3-box"/>
          <p:cNvSpPr/>
          <p:nvPr/>
        </p:nvSpPr>
        <p:spPr>
          <a:xfrm>
            <a:off x="13258800" y="4826000"/>
            <a:ext cx="2311400" cy="685800"/>
          </a:xfrm>
          <a:prstGeom prst="rect">
            <a:avLst/>
          </a:prstGeom>
          <a:solidFill>
            <a:srgbClr val="FBFAF7"/>
          </a:solidFill>
          <a:ln w="12700">
            <a:solidFill>
              <a:srgbClr val="C4CCC7"/>
            </a:solidFill>
          </a:ln>
        </p:spPr>
      </p:sp>
      <p:sp>
        <p:nvSpPr>
          <p:cNvPr id="83" name="p3-cn3-t"/>
          <p:cNvSpPr txBox="1"/>
          <p:nvPr/>
        </p:nvSpPr>
        <p:spPr>
          <a:xfrm>
            <a:off x="13360400" y="4826000"/>
            <a:ext cx="2108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Commercial Scheduling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Scheduling managers</a:t>
            </a:r>
            <a:endParaRPr lang="en-US" sz="750" noProof="1"/>
          </a:p>
        </p:txBody>
      </p:sp>
      <p:sp>
        <p:nvSpPr>
          <p:cNvPr id="84" name="p3-loop-box"/>
          <p:cNvSpPr/>
          <p:nvPr/>
        </p:nvSpPr>
        <p:spPr>
          <a:xfrm>
            <a:off x="381000" y="5842000"/>
            <a:ext cx="15494000" cy="381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E6482"/>
            </a:solidFill>
            <a:prstDash val="dash"/>
          </a:ln>
        </p:spPr>
      </p:sp>
      <p:sp>
        <p:nvSpPr>
          <p:cNvPr id="85" name="p3-loop-badge"/>
          <p:cNvSpPr/>
          <p:nvPr/>
        </p:nvSpPr>
        <p:spPr>
          <a:xfrm>
            <a:off x="558800" y="5930900"/>
            <a:ext cx="190500" cy="19050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86" name="p3-loop-badge-t"/>
          <p:cNvSpPr txBox="1"/>
          <p:nvPr/>
        </p:nvSpPr>
        <p:spPr>
          <a:xfrm>
            <a:off x="558800" y="59309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50" noProof="1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850" noProof="1"/>
          </a:p>
        </p:txBody>
      </p:sp>
      <p:sp>
        <p:nvSpPr>
          <p:cNvPr id="87" name="p3-loop-t"/>
          <p:cNvSpPr txBox="1"/>
          <p:nvPr/>
        </p:nvSpPr>
        <p:spPr>
          <a:xfrm>
            <a:off x="838200" y="5842000"/>
            <a:ext cx="133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b="1">
                <a:solidFill>
                  <a:srgbClr val="1C2B3A"/>
                </a:solidFill>
                <a:latin typeface="MiSans"/>
                <a:ea typeface="MiSans"/>
              </a:rPr>
              <a:t>The Accuracy Loop</a:t>
            </a:r>
            <a:r>
              <a:rPr lang="en-US" sz="900" noProof="1">
                <a:solidFill>
                  <a:srgbClr val="3A4650"/>
                </a:solidFill>
                <a:latin typeface="MiSans"/>
                <a:ea typeface="MiSans"/>
              </a:rPr>
              <a:t> — SME corrections + agent flags route low-confidence clusters for targeted re-review; extraction, ranking and answers improve every cycle</a:t>
            </a:r>
            <a:endParaRPr lang="en-US" sz="900" noProof="1"/>
          </a:p>
        </p:txBody>
      </p:sp>
      <p:sp>
        <p:nvSpPr>
          <p:cNvPr id="88" name="p3-loop-icon"/>
          <p:cNvSpPr/>
          <p:nvPr>
            <p:extLst>
              <p:ext uri="{F5677B7D-0D2A-4D9B-9A5C-6D8D7D0E5A5D}">
                <pptd:icon encoding="base64url">eyJpY29uTmFtZSI6ImZhczphcnJvd3Mtc3BpbiJ9</pptd:icon>
              </p:ext>
            </p:extLst>
          </p:nvPr>
        </p:nvSpPr>
        <p:spPr>
          <a:xfrm>
            <a:off x="15443200" y="5930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2" y="240"/>
                </a:moveTo>
                <a:cubicBezTo>
                  <a:pt x="464" y="239"/>
                  <a:pt x="449" y="252"/>
                  <a:pt x="448" y="270"/>
                </a:cubicBezTo>
                <a:cubicBezTo>
                  <a:pt x="444" y="317"/>
                  <a:pt x="424" y="359"/>
                  <a:pt x="393" y="391"/>
                </a:cubicBezTo>
                <a:lnTo>
                  <a:pt x="361" y="359"/>
                </a:lnTo>
                <a:cubicBezTo>
                  <a:pt x="354" y="352"/>
                  <a:pt x="344" y="350"/>
                  <a:pt x="335" y="354"/>
                </a:cubicBezTo>
                <a:cubicBezTo>
                  <a:pt x="326" y="358"/>
                  <a:pt x="320" y="366"/>
                  <a:pt x="320" y="376"/>
                </a:cubicBezTo>
                <a:lnTo>
                  <a:pt x="320" y="488"/>
                </a:lnTo>
                <a:cubicBezTo>
                  <a:pt x="320" y="501"/>
                  <a:pt x="331" y="512"/>
                  <a:pt x="344" y="512"/>
                </a:cubicBezTo>
                <a:lnTo>
                  <a:pt x="456" y="512"/>
                </a:lnTo>
                <a:cubicBezTo>
                  <a:pt x="466" y="512"/>
                  <a:pt x="475" y="506"/>
                  <a:pt x="478" y="497"/>
                </a:cubicBezTo>
                <a:cubicBezTo>
                  <a:pt x="482" y="488"/>
                  <a:pt x="480" y="478"/>
                  <a:pt x="473" y="471"/>
                </a:cubicBezTo>
                <a:lnTo>
                  <a:pt x="438" y="436"/>
                </a:lnTo>
                <a:cubicBezTo>
                  <a:pt x="480" y="394"/>
                  <a:pt x="507" y="337"/>
                  <a:pt x="511" y="274"/>
                </a:cubicBezTo>
                <a:cubicBezTo>
                  <a:pt x="513" y="257"/>
                  <a:pt x="499" y="241"/>
                  <a:pt x="482" y="240"/>
                </a:cubicBezTo>
                <a:close/>
              </a:path>
              <a:path w="512" h="512">
                <a:moveTo>
                  <a:pt x="39" y="41"/>
                </a:moveTo>
                <a:lnTo>
                  <a:pt x="74" y="76"/>
                </a:lnTo>
                <a:cubicBezTo>
                  <a:pt x="32" y="118"/>
                  <a:pt x="5" y="175"/>
                  <a:pt x="1" y="238"/>
                </a:cubicBezTo>
                <a:cubicBezTo>
                  <a:pt x="-1" y="255"/>
                  <a:pt x="13" y="271"/>
                  <a:pt x="30" y="272"/>
                </a:cubicBezTo>
                <a:cubicBezTo>
                  <a:pt x="48" y="273"/>
                  <a:pt x="63" y="260"/>
                  <a:pt x="65" y="242"/>
                </a:cubicBezTo>
                <a:cubicBezTo>
                  <a:pt x="68" y="195"/>
                  <a:pt x="88" y="153"/>
                  <a:pt x="119" y="121"/>
                </a:cubicBezTo>
                <a:lnTo>
                  <a:pt x="151" y="153"/>
                </a:lnTo>
                <a:cubicBezTo>
                  <a:pt x="158" y="160"/>
                  <a:pt x="168" y="162"/>
                  <a:pt x="177" y="158"/>
                </a:cubicBezTo>
                <a:cubicBezTo>
                  <a:pt x="186" y="154"/>
                  <a:pt x="192" y="146"/>
                  <a:pt x="192" y="136"/>
                </a:cubicBezTo>
                <a:lnTo>
                  <a:pt x="192" y="24"/>
                </a:lnTo>
                <a:cubicBezTo>
                  <a:pt x="192" y="11"/>
                  <a:pt x="181" y="0"/>
                  <a:pt x="168" y="0"/>
                </a:cubicBezTo>
                <a:lnTo>
                  <a:pt x="56" y="0"/>
                </a:lnTo>
                <a:cubicBezTo>
                  <a:pt x="46" y="0"/>
                  <a:pt x="38" y="6"/>
                  <a:pt x="34" y="15"/>
                </a:cubicBezTo>
                <a:cubicBezTo>
                  <a:pt x="30" y="24"/>
                  <a:pt x="32" y="34"/>
                  <a:pt x="39" y="41"/>
                </a:cubicBezTo>
                <a:close/>
              </a:path>
              <a:path w="512" h="512">
                <a:moveTo>
                  <a:pt x="240" y="30"/>
                </a:moveTo>
                <a:cubicBezTo>
                  <a:pt x="239" y="48"/>
                  <a:pt x="252" y="63"/>
                  <a:pt x="270" y="65"/>
                </a:cubicBezTo>
                <a:cubicBezTo>
                  <a:pt x="317" y="68"/>
                  <a:pt x="359" y="88"/>
                  <a:pt x="391" y="119"/>
                </a:cubicBezTo>
                <a:lnTo>
                  <a:pt x="359" y="151"/>
                </a:lnTo>
                <a:cubicBezTo>
                  <a:pt x="352" y="158"/>
                  <a:pt x="350" y="168"/>
                  <a:pt x="354" y="177"/>
                </a:cubicBezTo>
                <a:cubicBezTo>
                  <a:pt x="358" y="186"/>
                  <a:pt x="366" y="192"/>
                  <a:pt x="376" y="192"/>
                </a:cubicBezTo>
                <a:lnTo>
                  <a:pt x="488" y="192"/>
                </a:lnTo>
                <a:cubicBezTo>
                  <a:pt x="501" y="192"/>
                  <a:pt x="512" y="181"/>
                  <a:pt x="512" y="168"/>
                </a:cubicBezTo>
                <a:lnTo>
                  <a:pt x="512" y="56"/>
                </a:lnTo>
                <a:cubicBezTo>
                  <a:pt x="512" y="46"/>
                  <a:pt x="506" y="38"/>
                  <a:pt x="497" y="34"/>
                </a:cubicBezTo>
                <a:cubicBezTo>
                  <a:pt x="488" y="30"/>
                  <a:pt x="478" y="32"/>
                  <a:pt x="471" y="39"/>
                </a:cubicBezTo>
                <a:lnTo>
                  <a:pt x="436" y="74"/>
                </a:lnTo>
                <a:cubicBezTo>
                  <a:pt x="394" y="32"/>
                  <a:pt x="337" y="5"/>
                  <a:pt x="274" y="1"/>
                </a:cubicBezTo>
                <a:cubicBezTo>
                  <a:pt x="257" y="-1"/>
                  <a:pt x="241" y="13"/>
                  <a:pt x="240" y="30"/>
                </a:cubicBezTo>
                <a:close/>
              </a:path>
              <a:path w="512" h="512">
                <a:moveTo>
                  <a:pt x="41" y="473"/>
                </a:moveTo>
                <a:lnTo>
                  <a:pt x="76" y="438"/>
                </a:lnTo>
                <a:cubicBezTo>
                  <a:pt x="118" y="480"/>
                  <a:pt x="175" y="507"/>
                  <a:pt x="238" y="511"/>
                </a:cubicBezTo>
                <a:cubicBezTo>
                  <a:pt x="255" y="513"/>
                  <a:pt x="271" y="499"/>
                  <a:pt x="272" y="482"/>
                </a:cubicBezTo>
                <a:cubicBezTo>
                  <a:pt x="273" y="464"/>
                  <a:pt x="260" y="449"/>
                  <a:pt x="242" y="448"/>
                </a:cubicBezTo>
                <a:cubicBezTo>
                  <a:pt x="195" y="444"/>
                  <a:pt x="153" y="424"/>
                  <a:pt x="121" y="393"/>
                </a:cubicBezTo>
                <a:lnTo>
                  <a:pt x="153" y="361"/>
                </a:lnTo>
                <a:cubicBezTo>
                  <a:pt x="160" y="354"/>
                  <a:pt x="162" y="344"/>
                  <a:pt x="158" y="335"/>
                </a:cubicBezTo>
                <a:cubicBezTo>
                  <a:pt x="154" y="326"/>
                  <a:pt x="146" y="320"/>
                  <a:pt x="136" y="320"/>
                </a:cubicBezTo>
                <a:lnTo>
                  <a:pt x="24" y="320"/>
                </a:lnTo>
                <a:cubicBezTo>
                  <a:pt x="11" y="320"/>
                  <a:pt x="0" y="331"/>
                  <a:pt x="0" y="344"/>
                </a:cubicBezTo>
                <a:lnTo>
                  <a:pt x="0" y="456"/>
                </a:lnTo>
                <a:cubicBezTo>
                  <a:pt x="0" y="466"/>
                  <a:pt x="6" y="475"/>
                  <a:pt x="15" y="478"/>
                </a:cubicBezTo>
                <a:cubicBezTo>
                  <a:pt x="24" y="482"/>
                  <a:pt x="34" y="480"/>
                  <a:pt x="41" y="473"/>
                </a:cubicBezTo>
                <a:close/>
              </a:path>
            </a:pathLst>
          </a:custGeom>
          <a:solidFill>
            <a:srgbClr val="1E6482"/>
          </a:solidFill>
          <a:ln>
            <a:noFill/>
          </a:ln>
        </p:spPr>
      </p:sp>
      <p:sp>
        <p:nvSpPr>
          <p:cNvPr id="89" name="p3-band"/>
          <p:cNvSpPr/>
          <p:nvPr/>
        </p:nvSpPr>
        <p:spPr>
          <a:xfrm>
            <a:off x="381000" y="6324600"/>
            <a:ext cx="15494000" cy="1270000"/>
          </a:xfrm>
          <a:prstGeom prst="roundRect">
            <a:avLst>
              <a:gd name="adj" fmla="val 5000"/>
            </a:avLst>
          </a:prstGeom>
          <a:solidFill>
            <a:srgbClr val="C1E5F5"/>
          </a:solidFill>
          <a:ln w="12700">
            <a:solidFill>
              <a:srgbClr val="A9D4EC"/>
            </a:solidFill>
          </a:ln>
        </p:spPr>
      </p:sp>
      <p:sp>
        <p:nvSpPr>
          <p:cNvPr id="90" name="p3-band-badge"/>
          <p:cNvSpPr/>
          <p:nvPr/>
        </p:nvSpPr>
        <p:spPr>
          <a:xfrm>
            <a:off x="558800" y="6426200"/>
            <a:ext cx="203200" cy="203200"/>
          </a:xfrm>
          <a:prstGeom prst="ellipse">
            <a:avLst/>
          </a:prstGeom>
          <a:solidFill>
            <a:srgbClr val="1C2B3A"/>
          </a:solidFill>
          <a:ln>
            <a:noFill/>
          </a:ln>
        </p:spPr>
      </p:sp>
      <p:sp>
        <p:nvSpPr>
          <p:cNvPr id="91" name="p3-band-badge-t"/>
          <p:cNvSpPr txBox="1"/>
          <p:nvPr/>
        </p:nvSpPr>
        <p:spPr>
          <a:xfrm>
            <a:off x="558800" y="64262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FFFFFF"/>
                </a:solidFill>
                <a:latin typeface="MiSans"/>
                <a:ea typeface="MiSans"/>
              </a:rPr>
              <a:t>5</a:t>
            </a:r>
            <a:endParaRPr lang="en-US" sz="900" noProof="1"/>
          </a:p>
        </p:txBody>
      </p:sp>
      <p:sp>
        <p:nvSpPr>
          <p:cNvPr id="92" name="p3-band-header"/>
          <p:cNvSpPr txBox="1"/>
          <p:nvPr/>
        </p:nvSpPr>
        <p:spPr>
          <a:xfrm>
            <a:off x="838200" y="6426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1C2B3A"/>
                </a:solidFill>
                <a:latin typeface="MiSans"/>
                <a:ea typeface="MiSans"/>
              </a:rPr>
              <a:t>Common Platform Services</a:t>
            </a:r>
            <a:endParaRPr lang="en-US" sz="1000" noProof="1"/>
          </a:p>
        </p:txBody>
      </p:sp>
      <p:sp>
        <p:nvSpPr>
          <p:cNvPr id="93" name="p3-bs1-box"/>
          <p:cNvSpPr/>
          <p:nvPr/>
        </p:nvSpPr>
        <p:spPr>
          <a:xfrm>
            <a:off x="558800" y="6731000"/>
            <a:ext cx="2895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94" name="p3-bs1-t"/>
          <p:cNvSpPr txBox="1"/>
          <p:nvPr/>
        </p:nvSpPr>
        <p:spPr>
          <a:xfrm>
            <a:off x="660400" y="6731000"/>
            <a:ext cx="269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Process Governance &amp; Lifecycle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Knowledge Source States · Taxonomy</a:t>
            </a:r>
            <a:endParaRPr lang="en-US" sz="750" noProof="1"/>
          </a:p>
        </p:txBody>
      </p:sp>
      <p:sp>
        <p:nvSpPr>
          <p:cNvPr id="95" name="p3-bs2-box"/>
          <p:cNvSpPr/>
          <p:nvPr/>
        </p:nvSpPr>
        <p:spPr>
          <a:xfrm>
            <a:off x="3568700" y="6731000"/>
            <a:ext cx="2895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96" name="p3-bs2-t"/>
          <p:cNvSpPr txBox="1"/>
          <p:nvPr/>
        </p:nvSpPr>
        <p:spPr>
          <a:xfrm>
            <a:off x="3670300" y="6731000"/>
            <a:ext cx="269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Quality-Tier &amp; Confidence Model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Authoritative vs. indicative sources</a:t>
            </a:r>
            <a:endParaRPr lang="en-US" sz="750" noProof="1"/>
          </a:p>
        </p:txBody>
      </p:sp>
      <p:sp>
        <p:nvSpPr>
          <p:cNvPr id="97" name="p3-bs3-box"/>
          <p:cNvSpPr/>
          <p:nvPr/>
        </p:nvSpPr>
        <p:spPr>
          <a:xfrm>
            <a:off x="6578600" y="6731000"/>
            <a:ext cx="2895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98" name="p3-bs3-t"/>
          <p:cNvSpPr txBox="1"/>
          <p:nvPr/>
        </p:nvSpPr>
        <p:spPr>
          <a:xfrm>
            <a:off x="6680200" y="6731000"/>
            <a:ext cx="269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Tool Access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Decisions on business users access</a:t>
            </a:r>
            <a:endParaRPr lang="en-US" sz="750" noProof="1"/>
          </a:p>
        </p:txBody>
      </p:sp>
      <p:sp>
        <p:nvSpPr>
          <p:cNvPr id="99" name="p3-bs4-box"/>
          <p:cNvSpPr/>
          <p:nvPr/>
        </p:nvSpPr>
        <p:spPr>
          <a:xfrm>
            <a:off x="9588500" y="6731000"/>
            <a:ext cx="2895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00" name="p3-bs4-t"/>
          <p:cNvSpPr txBox="1"/>
          <p:nvPr/>
        </p:nvSpPr>
        <p:spPr>
          <a:xfrm>
            <a:off x="9690100" y="6731000"/>
            <a:ext cx="269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Audit &amp; Versioning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Full lineage &amp; change history</a:t>
            </a:r>
            <a:endParaRPr lang="en-US" sz="750" noProof="1"/>
          </a:p>
        </p:txBody>
      </p:sp>
      <p:sp>
        <p:nvSpPr>
          <p:cNvPr id="101" name="p3-bs5-box"/>
          <p:cNvSpPr/>
          <p:nvPr/>
        </p:nvSpPr>
        <p:spPr>
          <a:xfrm>
            <a:off x="12598400" y="6731000"/>
            <a:ext cx="2895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CC7"/>
            </a:solidFill>
          </a:ln>
        </p:spPr>
      </p:sp>
      <p:sp>
        <p:nvSpPr>
          <p:cNvPr id="102" name="p3-bs5-t"/>
          <p:cNvSpPr txBox="1"/>
          <p:nvPr/>
        </p:nvSpPr>
        <p:spPr>
          <a:xfrm>
            <a:off x="12700000" y="6731000"/>
            <a:ext cx="269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Continuous Improvement</a:t>
            </a:r>
            <a:endParaRPr lang="en-US" sz="75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50" noProof="1">
                <a:solidFill>
                  <a:srgbClr val="687078"/>
                </a:solidFill>
                <a:latin typeface="MiSans"/>
                <a:ea typeface="MiSans"/>
              </a:rPr>
              <a:t>SME revisions to repository</a:t>
            </a:r>
            <a:endParaRPr lang="en-US" sz="7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3</Slides>
</Properties>
</file>

<file path=docProps/core.xml><?xml version="1.0" encoding="utf-8"?>
<cp:coreProperties xmlns:dc="http://purl.org/dc/elements/1.1/" xmlns:cp="http://schemas.openxmlformats.org/package/2006/metadata/core-properties">
  <dc:title>CI KM — End-to-End Solution Architecture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